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218feabc9b8467c" /><Relationship Type="http://schemas.openxmlformats.org/officeDocument/2006/relationships/extended-properties" Target="/docProps/app.xml" Id="R458e9b7fbf25493e" /><Relationship Type="http://schemas.openxmlformats.org/officeDocument/2006/relationships/officeDocument" Target="/ppt/presentation.xml" Id="Re79ef59ef52d46e0" /></Relationships>
</file>

<file path=ppt/presentation.xml><?xml version="1.0" encoding="utf-8"?>
<p:presentation xmlns:p="http://schemas.openxmlformats.org/presentationml/2006/main">
  <p:sldMasterIdLst>
    <p:sldMasterId xmlns:r="http://schemas.openxmlformats.org/officeDocument/2006/relationships" id="2147483648" r:id="R286af76dc1fa455d"/>
  </p:sldMasterIdLst>
  <p:notesMasterIdLst>
    <p:notesMasterId xmlns:r="http://schemas.openxmlformats.org/officeDocument/2006/relationships" r:id="R56470163b1e547f0"/>
  </p:notesMasterIdLst>
  <p:sldIdLst>
    <p:sldId xmlns:r="http://schemas.openxmlformats.org/officeDocument/2006/relationships" id="256" r:id="R9a95da11eda44044"/>
    <p:sldId xmlns:r="http://schemas.openxmlformats.org/officeDocument/2006/relationships" id="257" r:id="Re25c6e69c9c648a3"/>
    <p:sldId xmlns:r="http://schemas.openxmlformats.org/officeDocument/2006/relationships" id="258" r:id="Rec9f0b1e736e4df0"/>
    <p:sldId xmlns:r="http://schemas.openxmlformats.org/officeDocument/2006/relationships" id="259" r:id="R90e87b3bdfa241d9"/>
    <p:sldId xmlns:r="http://schemas.openxmlformats.org/officeDocument/2006/relationships" id="260" r:id="R3293b489e9fb49c9"/>
    <p:sldId xmlns:r="http://schemas.openxmlformats.org/officeDocument/2006/relationships" id="261" r:id="R59b889010489496b"/>
    <p:sldId xmlns:r="http://schemas.openxmlformats.org/officeDocument/2006/relationships" id="262" r:id="R6aa182c70a7d4ecb"/>
    <p:sldId xmlns:r="http://schemas.openxmlformats.org/officeDocument/2006/relationships" id="263" r:id="Rda2bd8a637274a37"/>
    <p:sldId xmlns:r="http://schemas.openxmlformats.org/officeDocument/2006/relationships" id="264" r:id="R03b717b96d9d4c14"/>
    <p:sldId xmlns:r="http://schemas.openxmlformats.org/officeDocument/2006/relationships" id="265" r:id="R71c86259ae5b4d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af1b3f916f4fd9" /><Relationship Type="http://schemas.openxmlformats.org/officeDocument/2006/relationships/slideMaster" Target="/ppt/slideMasters/slideMaster1.xml" Id="R286af76dc1fa455d" /><Relationship Type="http://schemas.openxmlformats.org/officeDocument/2006/relationships/notesMaster" Target="/ppt/notesMasters/notesMaster1.xml" Id="R56470163b1e547f0" /><Relationship Type="http://schemas.openxmlformats.org/officeDocument/2006/relationships/presProps" Target="/ppt/presProps.xml" Id="R77d1f277f6f04249" /><Relationship Type="http://schemas.openxmlformats.org/officeDocument/2006/relationships/tableStyles" Target="/ppt/tableStyles.xml" Id="Re6a0658c79d4446b" /><Relationship Type="http://schemas.openxmlformats.org/officeDocument/2006/relationships/slide" Target="/ppt/slides/slide1.xml" Id="R9a95da11eda44044" /><Relationship Type="http://schemas.openxmlformats.org/officeDocument/2006/relationships/slide" Target="/ppt/slides/slide2.xml" Id="Re25c6e69c9c648a3" /><Relationship Type="http://schemas.openxmlformats.org/officeDocument/2006/relationships/slide" Target="/ppt/slides/slide3.xml" Id="Rec9f0b1e736e4df0" /><Relationship Type="http://schemas.openxmlformats.org/officeDocument/2006/relationships/slide" Target="/ppt/slides/slide4.xml" Id="R90e87b3bdfa241d9" /><Relationship Type="http://schemas.openxmlformats.org/officeDocument/2006/relationships/slide" Target="/ppt/slides/slide5.xml" Id="R3293b489e9fb49c9" /><Relationship Type="http://schemas.openxmlformats.org/officeDocument/2006/relationships/slide" Target="/ppt/slides/slide6.xml" Id="R59b889010489496b" /><Relationship Type="http://schemas.openxmlformats.org/officeDocument/2006/relationships/slide" Target="/ppt/slides/slide7.xml" Id="R6aa182c70a7d4ecb" /><Relationship Type="http://schemas.openxmlformats.org/officeDocument/2006/relationships/slide" Target="/ppt/slides/slide8.xml" Id="Rda2bd8a637274a37" /><Relationship Type="http://schemas.openxmlformats.org/officeDocument/2006/relationships/slide" Target="/ppt/slides/slide9.xml" Id="R03b717b96d9d4c14" /><Relationship Type="http://schemas.openxmlformats.org/officeDocument/2006/relationships/slide" Target="/ppt/slides/slide10.xml" Id="R71c86259ae5b4d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8772a3b0d74c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37ee2c58e5463c" /><Relationship Type="http://schemas.openxmlformats.org/officeDocument/2006/relationships/notesMaster" Target="/ppt/notesMasters/notesMaster1.xml" Id="R61ccc7c42e804b5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3a3ba70d1e48dd" /><Relationship Type="http://schemas.openxmlformats.org/officeDocument/2006/relationships/notesMaster" Target="/ppt/notesMasters/notesMaster1.xml" Id="Rb67b4e17f7184a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4945968144414385" /><Relationship Type="http://schemas.openxmlformats.org/officeDocument/2006/relationships/notesMaster" Target="/ppt/notesMasters/notesMaster1.xml" Id="Rb11c9f1ead704a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5457534e0548a3" /><Relationship Type="http://schemas.openxmlformats.org/officeDocument/2006/relationships/notesMaster" Target="/ppt/notesMasters/notesMaster1.xml" Id="R4e58507252b8444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eda0b15bed24348" /><Relationship Type="http://schemas.openxmlformats.org/officeDocument/2006/relationships/notesMaster" Target="/ppt/notesMasters/notesMaster1.xml" Id="R3775ed47943e4c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ef0352aacf4812" /><Relationship Type="http://schemas.openxmlformats.org/officeDocument/2006/relationships/notesMaster" Target="/ppt/notesMasters/notesMaster1.xml" Id="R24014d89be7d410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ded6aeacfb489b" /><Relationship Type="http://schemas.openxmlformats.org/officeDocument/2006/relationships/notesMaster" Target="/ppt/notesMasters/notesMaster1.xml" Id="R79ad9c50882e4b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69489a54a157490a" /><Relationship Type="http://schemas.openxmlformats.org/officeDocument/2006/relationships/notesMaster" Target="/ppt/notesMasters/notesMaster1.xml" Id="R42b248ed34164d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726ff3448cb487b" /><Relationship Type="http://schemas.openxmlformats.org/officeDocument/2006/relationships/notesMaster" Target="/ppt/notesMasters/notesMaster1.xml" Id="R607db37580ad4a5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19648563f74e78" /><Relationship Type="http://schemas.openxmlformats.org/officeDocument/2006/relationships/notesMaster" Target="/ppt/notesMasters/notesMaster1.xml" Id="Reae740c3995f4c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and both authors. The study evaluates transparent routing beneath an unchanged Raft implementation. The report is dated 2 October 2026. The oral presentation date is independent of the report date.</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Raft supports databases, file systems and cluster orchestration. Individual failed links can block the leader from a majority even when surviving intermediate paths connect the nodes. This reachability mismatch motivates a network-layer remedy. The aim is to characterize both liveness and client-observed commit latency without modifying Raft consensus. Delimitations: fixed HashiCorp implementation, selected topologies, emulated static delays and artificial workload. Source: Introduction, Research Problem, Aim and Research Questions.</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Raft is leader based. A commit needs a majority including the leader. In a five-node cluster, that means three replicas. Raft uses direct peer communication rather than relaying messages through followers. Jensen, Howard and Mortier (2021) proposed overlay routing but did not systematically evaluate it. Nifty (Alfatafta et al., 2020) reroutes traffic transparently in other production systems. Omni-Paxos (Ng et al., 2023) instead changes consensus to handle partial connectivity. The research gap is a measured characterization of transparent routing beneath unchanged Raft, including topology, recovery and latency costs. References are listed in docs/final-report/II2202-report.bib.</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controlled quantitative experiment in Mininet with HashiCorp Raft. Both modes share Raft binaries, workload, link failures and delay levels. Forwarding follows preconfigured shortest surviving paths, so the study does not measure adaptive route discovery. Design: T0–T4 × direct/forwarding × 0.5/5/20 ms per link × 30 repetitions = 900 trials. Warm up for 30 seconds, inject failures and observe for 30 seconds. Workload: open-loop 100 requests per second, 64-byte payloads. Heartbeat: 10 ms. Client logs provide throughput, recovery and commit latency, while Raft logs track elections and terms. 607 runs passed validation and 293 failed. Main conclusions use 0.5 ms links, where each cell has 30 runs. Source: Research Method and Results opening.</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images are crops of the original report topology figure. Solid links survive, red dashed links fail, blue paths show forwarding and the yellow node is the initial leader. T2: A connects to B, C, D and E, while C loses its direct quorum. T3: C is isolated and has no surviving path. A bridges B, D and E but has an older log. Direct-only candidates cannot both satisfy connectivity and log-freshness voting constraints. Forwarding permits a candidate such as B to reach D and E through A. C remains isolated. Controls: T0 full mesh, T1 one non-critical cut with a direct majority, T4 three nodes with B–A–C connectivity. In T4, B and A already form a majority, so forwarding to C is not required for commits under this workload. Source: report Figure 1 and Research Method.</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chart values are mean client commit throughput across 30 runs at 0.5 ms link delay. T0 and T1 are near the 100 requests/s offered rate in both modes. T2 direct 64.0 ± 17.4 entries/s and forwarding 97.5 ± 0.5 entries/s, about 52% higher. T3 direct 0, forwarding 59.6 ± 0.3 entries/s averaged over the observation interval, including the recovery interruption. All 30 forwarding runs recover, with mean time from failure to first subsequent commit 20.27 ± 0.18 s. This is not immediate recovery. T4 direct 91.0 ± 23.8, forwarding 99.4 ± 0.6, but direct mode already has a majority. Chart shows means; SD is given here rather than implying significance. T0/T1 rounded means come from the same dataset used by report gen_figures.py: experiments/viz/public/data/dataset.jsonl. No formal hypothesis tests. Source: Results, RQ1.</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Chart values reproduce the report latency table at 0.5 ms link delay. Metric: mean of each successful run’s median client-observed commit latency, in ms. T0 direct 2.30, forwarding 2.11. T1 direct 2.17, forwarding 2.25. T2 direct 1.60, forwarding 3.05. T4 direct 1.96, forwarding 2.09. T3 direct has no successful commits, so its latency is undefined and it is omitted from the comparison chart. T3 forwarding latency after recovery is 2.55 ms. In T2, forwarding participates in the deciding majority and mean median latency is about 1.9 times direct. Comparisons are descriptive and include only successful requests, so faster direct latency does not imply better availability. Controls T0/T1 show little difference, which may reflect run variation. T4 already has a direct majority. Source: Results, RQ2 and Table 3.</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Answer RQ1: forwarding restores progress in T3 at low link delay and maintains near-full throughput in T2, where direct mode degrades. It is a protocol-preserving mitigation for selected partial partitions, not a guarantee of availability in every topology or delay setting. Answer RQ2: additional latency becomes clear when a forwarded path is required for the deciding majority, as in T2. Recovery also has a material cost in T3. The primary conclusions focus on 0.5 ms per-link delay. The fixed 10 ms heartbeat leaves higher-delay cells election-unstable or unable to warm up. 240 T0/T1/T2/T4 trials fail warm-up at 20 ms; at 5 ms, 51 additional warm-ups fail. T3 forwarding makes no post-failure progress at 20 ms. Other limits: one emulated host per cluster, static delays, one workload and implementation, 30-second observation and no formal significance tests. PreVote is enabled in the implementation and its role is not isolated. Source: Discussion, Validity and Conclusion.</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report proposes retesting when timeout settings scale with path delay, possibly using adaptive failure detection, evaluating clusters across regions and comparing overlay routing with protocol-level remedies such as PreVote. Separate experiments with PreVote enabled and disabled would isolate its contribution. Current experiments do not justify a production-wide recommendation. Source: Implications and Future Work, and Discussion.</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audience questions about the topology assumptions, why T3 blocks direct elections, recovery delay, the throughput versus latency tradeoff, heartbeat limitations and future experiments.</a:t>
            </a:r>
          </a:p>
          <a:p xmlns:a="http://schemas.openxmlformats.org/drawingml/2006/main">
            <a:r>
              <a:t/>
            </a:r>
          </a:p>
          <a:p xmlns:a="http://schemas.openxmlformats.org/drawingml/2006/main">
            <a:r>
              <a:t>Source: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a36d5457514e7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1425ea6721424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51e75f801ad42f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9b00058f6ce4c7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06673594ba34fc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e8c4774b4b4d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8B9716-40C4-479E-9E94-1F806EFB69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FFC455-4650-456A-880E-3DA674C327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9B9A61D-42EE-47B1-9693-B8CD3E4A5E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8B463-BD5D-4770-9CED-C43FB54641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A45D39-80AE-48BC-9C9F-3C6F624848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722DEB-243C-4007-92D4-31746E3B5E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AC9C5C-3568-41A9-B6A0-EACBAFA56E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D75A5F-F894-4650-9C36-3767070D936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0E9ECF-9003-4F9F-ACAD-14CFEB8E4E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DB4ED6-6006-4ABE-A9FE-AD9438FB92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d4a761a1bf40ae" /><Relationship Type="http://schemas.openxmlformats.org/officeDocument/2006/relationships/slideLayout" Target="/ppt/slideLayouts/slideLayout1.xml" Id="R0220e1223442423d" /><Relationship Type="http://schemas.openxmlformats.org/officeDocument/2006/relationships/slideLayout" Target="/ppt/slideLayouts/slideLayout2.xml" Id="R7af61eab37da4233" /><Relationship Type="http://schemas.openxmlformats.org/officeDocument/2006/relationships/slideLayout" Target="/ppt/slideLayouts/slideLayout3.xml" Id="Rb47969304180474f" /><Relationship Type="http://schemas.openxmlformats.org/officeDocument/2006/relationships/slideLayout" Target="/ppt/slideLayouts/slideLayout4.xml" Id="Rc28ccd4c09ab463f" /><Relationship Type="http://schemas.openxmlformats.org/officeDocument/2006/relationships/slideLayout" Target="/ppt/slideLayouts/slideLayout5.xml" Id="Re1953d8470fb4f91" /><Relationship Type="http://schemas.openxmlformats.org/officeDocument/2006/relationships/slideLayout" Target="/ppt/slideLayouts/slideLayout6.xml" Id="R5356ae6515b644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20e1223442423d"/>
    <p:sldLayoutId xmlns:r="http://schemas.openxmlformats.org/officeDocument/2006/relationships" id="2147483650" r:id="R7af61eab37da4233"/>
    <p:sldLayoutId xmlns:r="http://schemas.openxmlformats.org/officeDocument/2006/relationships" id="2147483651" r:id="Rb47969304180474f"/>
    <p:sldLayoutId xmlns:r="http://schemas.openxmlformats.org/officeDocument/2006/relationships" id="2147483652" r:id="Rc28ccd4c09ab463f"/>
    <p:sldLayoutId xmlns:r="http://schemas.openxmlformats.org/officeDocument/2006/relationships" id="2147483653" r:id="Re1953d8470fb4f91"/>
    <p:sldLayoutId xmlns:r="http://schemas.openxmlformats.org/officeDocument/2006/relationships" id="2147483654" r:id="R5356ae6515b644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4ca1945bb04e74" /><Relationship Type="http://schemas.openxmlformats.org/officeDocument/2006/relationships/notesSlide" Target="/ppt/notesSlides/notesSlide1.xml" Id="R94fb3dc78dcd4c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c3b200fc15a4dfb" /><Relationship Type="http://schemas.openxmlformats.org/officeDocument/2006/relationships/notesSlide" Target="/ppt/notesSlides/notesSlide2.xml" Id="Rae8ae31454eb4c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532e8fcbcda46eb" /><Relationship Type="http://schemas.openxmlformats.org/officeDocument/2006/relationships/notesSlide" Target="/ppt/notesSlides/notesSlide3.xml" Id="R177ba7190258436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889fd41628c4946" /><Relationship Type="http://schemas.openxmlformats.org/officeDocument/2006/relationships/notesSlide" Target="/ppt/notesSlides/notesSlide4.xml" Id="Rbca69c869cea47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16f496860844492" /><Relationship Type="http://schemas.openxmlformats.org/officeDocument/2006/relationships/image" Target="/ppt/media/image.png" Id="Reea216b3cafa47fb" /><Relationship Type="http://schemas.openxmlformats.org/officeDocument/2006/relationships/image" Target="/ppt/media/image2.png" Id="Re27a076b99784591" /><Relationship Type="http://schemas.openxmlformats.org/officeDocument/2006/relationships/notesSlide" Target="/ppt/notesSlides/notesSlide5.xml" Id="Re40d3863b76d4d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8c0c9a2e80e41c9" /><Relationship Type="http://schemas.openxmlformats.org/officeDocument/2006/relationships/chart" Target="/ppt/slides/charts/chart1.xml" Id="R86e7dc6ed53f4a7a" /><Relationship Type="http://schemas.openxmlformats.org/officeDocument/2006/relationships/notesSlide" Target="/ppt/notesSlides/notesSlide6.xml" Id="Rf725e5fcbeec4ec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5a7fb7f31764805" /><Relationship Type="http://schemas.openxmlformats.org/officeDocument/2006/relationships/chart" Target="/ppt/slides/charts/chart2.xml" Id="Re45213037f2f4ee0" /><Relationship Type="http://schemas.openxmlformats.org/officeDocument/2006/relationships/notesSlide" Target="/ppt/notesSlides/notesSlide7.xml" Id="R2066cbc6e64b4b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3266efe255e46e6" /><Relationship Type="http://schemas.openxmlformats.org/officeDocument/2006/relationships/notesSlide" Target="/ppt/notesSlides/notesSlide8.xml" Id="R36ea6b5d17a04e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6d7643716fd43cf" /><Relationship Type="http://schemas.openxmlformats.org/officeDocument/2006/relationships/notesSlide" Target="/ppt/notesSlides/notesSlide9.xml" Id="R975d112a1b7443b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061edab3b364b73" /><Relationship Type="http://schemas.openxmlformats.org/officeDocument/2006/relationships/notesSlide" Target="/ppt/notesSlides/notesSlide10.xml" Id="R9b4f0503b49d46b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Direct</c:v>
          </c:tx>
          <c:spPr>
            <a:solidFill xmlns:a="http://schemas.openxmlformats.org/drawingml/2006/main">
              <a:srgbClr val="8A99A6"/>
            </a:solidFill>
          </c:spPr>
          <c:cat>
            <c:strRef>
              <c:f>'Chart Data'!$A$2:$A$6</c:f>
              <c:strCache>
                <c:ptCount val="5"/>
                <c:pt idx="0">
                  <c:v>T0</c:v>
                </c:pt>
                <c:pt idx="1">
                  <c:v>T1</c:v>
                </c:pt>
                <c:pt idx="2">
                  <c:v>T2</c:v>
                </c:pt>
                <c:pt idx="3">
                  <c:v>T3</c:v>
                </c:pt>
                <c:pt idx="4">
                  <c:v>T4</c:v>
                </c:pt>
              </c:strCache>
            </c:strRef>
          </c:cat>
          <c:val>
            <c:numRef>
              <c:f>'Chart Data'!$B$2:$B$6</c:f>
              <c:numCache>
                <c:formatCode>0.0</c:formatCode>
                <c:ptCount val="5"/>
                <c:pt idx="0">
                  <c:v>99.6</c:v>
                </c:pt>
                <c:pt idx="1">
                  <c:v>98.8</c:v>
                </c:pt>
                <c:pt idx="2">
                  <c:v>64</c:v>
                </c:pt>
                <c:pt idx="3">
                  <c:v>0</c:v>
                </c:pt>
                <c:pt idx="4">
                  <c:v>91</c:v>
                </c:pt>
              </c:numCache>
            </c:numRef>
          </c:val>
        </c:ser>
        <c:ser>
          <c:idx val="1"/>
          <c:order val="1"/>
          <c:tx>
            <c:v>Forwarding</c:v>
          </c:tx>
          <c:spPr>
            <a:solidFill xmlns:a="http://schemas.openxmlformats.org/drawingml/2006/main">
              <a:srgbClr val="007E87"/>
            </a:solidFill>
          </c:spPr>
          <c:cat>
            <c:strRef>
              <c:f>'Chart Data'!$C$2:$C$6</c:f>
              <c:strCache>
                <c:ptCount val="5"/>
                <c:pt idx="0">
                  <c:v>T0</c:v>
                </c:pt>
                <c:pt idx="1">
                  <c:v>T1</c:v>
                </c:pt>
                <c:pt idx="2">
                  <c:v>T2</c:v>
                </c:pt>
                <c:pt idx="3">
                  <c:v>T3</c:v>
                </c:pt>
                <c:pt idx="4">
                  <c:v>T4</c:v>
                </c:pt>
              </c:strCache>
            </c:strRef>
          </c:cat>
          <c:val>
            <c:numRef>
              <c:f>'Chart Data'!$D$2:$D$6</c:f>
              <c:numCache>
                <c:formatCode>0.0</c:formatCode>
                <c:ptCount val="5"/>
                <c:pt idx="0">
                  <c:v>99.7</c:v>
                </c:pt>
                <c:pt idx="1">
                  <c:v>99</c:v>
                </c:pt>
                <c:pt idx="2">
                  <c:v>97.5</c:v>
                </c:pt>
                <c:pt idx="3">
                  <c:v>59.6</c:v>
                </c:pt>
                <c:pt idx="4">
                  <c:v>99.4</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dLblPos val="outEnd"/>
          <c:showLegendKey val="0"/>
          <c:showVal val="1"/>
          <c:showCatName val="0"/>
          <c:showSerName val="0"/>
          <c:showPercent val="0"/>
          <c:showBubbleSize val="0"/>
          <c:showLeaderLines val="0"/>
        </c:dLbls>
        <c:gapWidth val="8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800">
                <a:solidFill>
                  <a:srgbClr val="173247"/>
                </a:solidFill>
                <a:latin typeface="Arial"/>
                <a:ea typeface="Arial"/>
                <a:cs typeface="Arial"/>
              </a:defRPr>
            </a:pPr>
          </a:p>
        </c:txPr>
        <c:crossAx val="48672768"/>
      </c:catAx>
      <c:valAx>
        <c:axId val="48672768"/>
        <c:scaling>
          <c:orientation val="minMax"/>
          <c:max val="115"/>
          <c:min val="0"/>
        </c:scaling>
        <c:delete val="0"/>
        <c:axPos val="l"/>
        <c:majorGridlines>
          <c:spPr>
            <a:ln xmlns:a="http://schemas.openxmlformats.org/drawingml/2006/main" w="9525">
              <a:solidFill>
                <a:srgbClr val="E0E6E9"/>
              </a:solidFill>
            </a:ln>
          </c:spPr>
        </c:majorGridlines>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Direct</c:v>
          </c:tx>
          <c:spPr>
            <a:solidFill xmlns:a="http://schemas.openxmlformats.org/drawingml/2006/main">
              <a:srgbClr val="8A99A6"/>
            </a:solidFill>
          </c:spPr>
          <c:cat>
            <c:strRef>
              <c:f>'Chart Data'!$A$2:$A$5</c:f>
              <c:strCache>
                <c:ptCount val="4"/>
                <c:pt idx="0">
                  <c:v>T0</c:v>
                </c:pt>
                <c:pt idx="1">
                  <c:v>T1</c:v>
                </c:pt>
                <c:pt idx="2">
                  <c:v>T2</c:v>
                </c:pt>
                <c:pt idx="3">
                  <c:v>T4</c:v>
                </c:pt>
              </c:strCache>
            </c:strRef>
          </c:cat>
          <c:val>
            <c:numRef>
              <c:f>'Chart Data'!$B$2:$B$5</c:f>
              <c:numCache>
                <c:formatCode>0.00</c:formatCode>
                <c:ptCount val="4"/>
                <c:pt idx="0">
                  <c:v>2.3</c:v>
                </c:pt>
                <c:pt idx="1">
                  <c:v>2.17</c:v>
                </c:pt>
                <c:pt idx="2">
                  <c:v>1.6</c:v>
                </c:pt>
                <c:pt idx="3">
                  <c:v>1.96</c:v>
                </c:pt>
              </c:numCache>
            </c:numRef>
          </c:val>
        </c:ser>
        <c:ser>
          <c:idx val="1"/>
          <c:order val="1"/>
          <c:tx>
            <c:v>Forwarding</c:v>
          </c:tx>
          <c:spPr>
            <a:solidFill xmlns:a="http://schemas.openxmlformats.org/drawingml/2006/main">
              <a:srgbClr val="007E87"/>
            </a:solidFill>
          </c:spPr>
          <c:cat>
            <c:strRef>
              <c:f>'Chart Data'!$C$2:$C$5</c:f>
              <c:strCache>
                <c:ptCount val="4"/>
                <c:pt idx="0">
                  <c:v>T0</c:v>
                </c:pt>
                <c:pt idx="1">
                  <c:v>T1</c:v>
                </c:pt>
                <c:pt idx="2">
                  <c:v>T2</c:v>
                </c:pt>
                <c:pt idx="3">
                  <c:v>T4</c:v>
                </c:pt>
              </c:strCache>
            </c:strRef>
          </c:cat>
          <c:val>
            <c:numRef>
              <c:f>'Chart Data'!$D$2:$D$5</c:f>
              <c:numCache>
                <c:formatCode>0.00</c:formatCode>
                <c:ptCount val="4"/>
                <c:pt idx="0">
                  <c:v>2.11</c:v>
                </c:pt>
                <c:pt idx="1">
                  <c:v>2.25</c:v>
                </c:pt>
                <c:pt idx="2">
                  <c:v>3.05</c:v>
                </c:pt>
                <c:pt idx="3">
                  <c:v>2.09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dLblPos val="outEnd"/>
          <c:showLegendKey val="0"/>
          <c:showVal val="1"/>
          <c:showCatName val="0"/>
          <c:showSerName val="0"/>
          <c:showPercent val="0"/>
          <c:showBubbleSize val="0"/>
          <c:showLeaderLines val="0"/>
        </c:dLbls>
        <c:gapWidth val="8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800">
                <a:solidFill>
                  <a:srgbClr val="173247"/>
                </a:solidFill>
                <a:latin typeface="Arial"/>
                <a:ea typeface="Arial"/>
                <a:cs typeface="Arial"/>
              </a:defRPr>
            </a:pPr>
          </a:p>
        </c:txPr>
        <c:crossAx val="48672768"/>
      </c:catAx>
      <c:valAx>
        <c:axId val="48672768"/>
        <c:scaling>
          <c:orientation val="minMax"/>
          <c:max val="3.7"/>
          <c:min val="0"/>
        </c:scaling>
        <c:delete val="0"/>
        <c:axPos val="l"/>
        <c:majorGridlines>
          <c:spPr>
            <a:ln xmlns:a="http://schemas.openxmlformats.org/drawingml/2006/main" w="9525">
              <a:solidFill>
                <a:srgbClr val="E0E6E9"/>
              </a:solidFill>
            </a:ln>
          </c:spPr>
        </c:majorGridlines>
        <c:numFmt formatCode="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556570"/>
                </a:solidFill>
                <a:latin typeface="Arial"/>
                <a:ea typeface="Arial"/>
                <a:cs typeface="Arial"/>
              </a:defRPr>
            </a:pPr>
          </a:p>
        </c:txPr>
        <c:crossAx val="48650112"/>
        <c:crossBetween val="between"/>
        <c:majorUnit val="1"/>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EBA315C-672B-493C-92F3-1D249C3FE07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1 / 10</a:t>
            </a:r>
          </a:p>
        </p:txBody>
      </p:sp>
      <p:sp>
        <p:nvSpPr>
          <p:cNvPr id="2" name="Transparent Multi-Hop&#10;Routing for Raft">
            <a:extLst xmlns:a="http://schemas.openxmlformats.org/drawingml/2006/main">
              <a:ext uri="{FF2B5EF4-FFF2-40B4-BE49-F238E27FC236}">
                <a16:creationId xmlns:a16="http://schemas.microsoft.com/office/drawing/2014/main" id="{C02B62E1-829F-4505-8BB9-E5BDB9318B08}"/>
              </a:ext>
            </a:extLst>
          </p:cNvPr>
          <p:cNvSpPr>
            <a:spLocks xmlns:a="http://schemas.openxmlformats.org/drawingml/2006/main" noGrp="1"/>
          </p:cNvSpPr>
          <p:nvPr/>
        </p:nvSpPr>
        <p:spPr>
          <a:xfrm xmlns:a="http://schemas.openxmlformats.org/drawingml/2006/main">
            <a:off x="685800" y="1428750"/>
            <a:ext cx="104775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3247"/>
                </a:solidFill>
                <a:latin typeface="Arial"/>
                <a:ea typeface="Arial"/>
                <a:cs typeface="Arial"/>
              </a:defRPr>
            </a:defPPr>
          </a:lstStyle>
          <a:p xmlns:a="http://schemas.openxmlformats.org/drawingml/2006/main">
            <a:pPr algn="l">
              <a:defRPr sz="4350" b="1">
                <a:solidFill>
                  <a:srgbClr val="173247"/>
                </a:solidFill>
                <a:latin typeface="Arial"/>
                <a:ea typeface="Arial"/>
                <a:cs typeface="Arial"/>
              </a:defRPr>
            </a:pPr>
            <a:r>
              <a:rPr sz="4350" b="1">
                <a:solidFill>
                  <a:srgbClr val="173247"/>
                </a:solidFill>
                <a:latin typeface="Arial"/>
                <a:ea typeface="Arial"/>
                <a:cs typeface="Arial"/>
              </a:rPr>
              <a:t>Transparent Multi-Hop</a:t>
            </a:r>
          </a:p>
          <a:p xmlns:a="http://schemas.openxmlformats.org/drawingml/2006/main">
            <a:pPr algn="l">
              <a:defRPr sz="4350" b="1">
                <a:solidFill>
                  <a:srgbClr val="173247"/>
                </a:solidFill>
                <a:latin typeface="Arial"/>
                <a:ea typeface="Arial"/>
                <a:cs typeface="Arial"/>
              </a:defRPr>
            </a:pPr>
            <a:r>
              <a:rPr sz="4350" b="1">
                <a:solidFill>
                  <a:srgbClr val="173247"/>
                </a:solidFill>
                <a:latin typeface="Arial"/>
                <a:ea typeface="Arial"/>
                <a:cs typeface="Arial"/>
              </a:rPr>
              <a:t>Routing for Raft</a:t>
            </a:r>
          </a:p>
        </p:txBody>
      </p:sp>
      <p:sp>
        <p:nvSpPr>
          <p:cNvPr id="3" name="Under Partial Network Partitions">
            <a:extLst xmlns:a="http://schemas.openxmlformats.org/drawingml/2006/main">
              <a:ext uri="{FF2B5EF4-FFF2-40B4-BE49-F238E27FC236}">
                <a16:creationId xmlns:a16="http://schemas.microsoft.com/office/drawing/2014/main" id="{B36F8C4B-63B1-46FE-8865-E3DE7AA00375}"/>
              </a:ext>
            </a:extLst>
          </p:cNvPr>
          <p:cNvSpPr>
            <a:spLocks xmlns:a="http://schemas.openxmlformats.org/drawingml/2006/main" noGrp="1"/>
          </p:cNvSpPr>
          <p:nvPr/>
        </p:nvSpPr>
        <p:spPr>
          <a:xfrm xmlns:a="http://schemas.openxmlformats.org/drawingml/2006/main">
            <a:off x="685800" y="310515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07E87"/>
                </a:solidFill>
                <a:latin typeface="Arial"/>
                <a:ea typeface="Arial"/>
                <a:cs typeface="Arial"/>
              </a:defRPr>
            </a:defPPr>
          </a:lstStyle>
          <a:p xmlns:a="http://schemas.openxmlformats.org/drawingml/2006/main">
            <a:pPr algn="l">
              <a:defRPr sz="2850" b="0">
                <a:solidFill>
                  <a:srgbClr val="007E87"/>
                </a:solidFill>
                <a:latin typeface="Arial"/>
                <a:ea typeface="Arial"/>
                <a:cs typeface="Arial"/>
              </a:defRPr>
            </a:pPr>
            <a:r>
              <a:rPr sz="2850" b="0">
                <a:solidFill>
                  <a:srgbClr val="007E87"/>
                </a:solidFill>
                <a:latin typeface="Arial"/>
                <a:ea typeface="Arial"/>
                <a:cs typeface="Arial"/>
              </a:rPr>
              <a:t>Under Partial Network Partitions</a:t>
            </a:r>
          </a:p>
        </p:txBody>
      </p:sp>
      <p:sp>
        <p:nvSpPr>
          <p:cNvPr id="4" name="Lorenzo Deflorian&#10;Juozas Skarbalius">
            <a:extLst xmlns:a="http://schemas.openxmlformats.org/drawingml/2006/main">
              <a:ext uri="{FF2B5EF4-FFF2-40B4-BE49-F238E27FC236}">
                <a16:creationId xmlns:a16="http://schemas.microsoft.com/office/drawing/2014/main" id="{2511A708-D9CF-47C6-A8CB-92D8B6B7D574}"/>
              </a:ext>
            </a:extLst>
          </p:cNvPr>
          <p:cNvSpPr>
            <a:spLocks xmlns:a="http://schemas.openxmlformats.org/drawingml/2006/main" noGrp="1"/>
          </p:cNvSpPr>
          <p:nvPr/>
        </p:nvSpPr>
        <p:spPr>
          <a:xfrm xmlns:a="http://schemas.openxmlformats.org/drawingml/2006/main">
            <a:off x="685800" y="4362450"/>
            <a:ext cx="7429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Lorenzo Deflorian</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Juozas Skarbalius</a:t>
            </a:r>
          </a:p>
        </p:txBody>
      </p:sp>
      <p:sp>
        <p:nvSpPr>
          <p:cNvPr id="5" name="KTH · II2202">
            <a:extLst xmlns:a="http://schemas.openxmlformats.org/drawingml/2006/main">
              <a:ext uri="{FF2B5EF4-FFF2-40B4-BE49-F238E27FC236}">
                <a16:creationId xmlns:a16="http://schemas.microsoft.com/office/drawing/2014/main" id="{EEF633DA-14E6-42A4-B00F-2ADC0516F2FD}"/>
              </a:ext>
            </a:extLst>
          </p:cNvPr>
          <p:cNvSpPr>
            <a:spLocks xmlns:a="http://schemas.openxmlformats.org/drawingml/2006/main" noGrp="1"/>
          </p:cNvSpPr>
          <p:nvPr/>
        </p:nvSpPr>
        <p:spPr>
          <a:xfrm xmlns:a="http://schemas.openxmlformats.org/drawingml/2006/main">
            <a:off x="685800" y="56007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stStyle>
          <a:p xmlns:a="http://schemas.openxmlformats.org/drawingml/2006/main">
            <a:pPr algn="l">
              <a:defRPr sz="1800" b="0">
                <a:solidFill>
                  <a:srgbClr val="556570"/>
                </a:solidFill>
                <a:latin typeface="Arial"/>
                <a:ea typeface="Arial"/>
                <a:cs typeface="Arial"/>
              </a:defRPr>
            </a:pPr>
            <a:r>
              <a:rPr sz="1800" b="0">
                <a:solidFill>
                  <a:srgbClr val="556570"/>
                </a:solidFill>
                <a:latin typeface="Arial"/>
                <a:ea typeface="Arial"/>
                <a:cs typeface="Arial"/>
              </a:rPr>
              <a:t>KTH · II2202</a:t>
            </a:r>
          </a:p>
        </p:txBody>
      </p:sp>
    </p:spTree>
    <p:extLst>
      <p:ext uri="{BB962C8B-B14F-4D97-AF65-F5344CB8AC3E}">
        <p14:creationId xmlns:p14="http://schemas.microsoft.com/office/powerpoint/2010/main" val="636755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6B9DAC4-2131-4BEC-B453-4CD5F7EF81A4}"/>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Partial partitions can interrupt Raft</a:t>
            </a:r>
          </a:p>
        </p:txBody>
      </p:sp>
      <p:sp>
        <p:nvSpPr>
          <p:cNvPr id="2" name="slide-number">
            <a:extLst xmlns:a="http://schemas.openxmlformats.org/drawingml/2006/main">
              <a:ext uri="{FF2B5EF4-FFF2-40B4-BE49-F238E27FC236}">
                <a16:creationId xmlns:a16="http://schemas.microsoft.com/office/drawing/2014/main" id="{6B8D0C65-DEEE-48D5-B900-DE04C8038A4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2 / 10</a:t>
            </a:r>
          </a:p>
        </p:txBody>
      </p:sp>
      <p:sp>
        <p:nvSpPr>
          <p:cNvPr id="3" name="Nodes may remain reachable through peers&#10;even">
            <a:extLst xmlns:a="http://schemas.openxmlformats.org/drawingml/2006/main">
              <a:ext uri="{FF2B5EF4-FFF2-40B4-BE49-F238E27FC236}">
                <a16:creationId xmlns:a16="http://schemas.microsoft.com/office/drawing/2014/main" id="{82CCB246-62BE-4529-9EA0-3EEF2E43337C}"/>
              </a:ext>
            </a:extLst>
          </p:cNvPr>
          <p:cNvSpPr>
            <a:spLocks xmlns:a="http://schemas.openxmlformats.org/drawingml/2006/main" noGrp="1"/>
          </p:cNvSpPr>
          <p:nvPr/>
        </p:nvSpPr>
        <p:spPr>
          <a:xfrm xmlns:a="http://schemas.openxmlformats.org/drawingml/2006/main">
            <a:off x="685800" y="1695450"/>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3247"/>
                </a:solidFill>
                <a:latin typeface="Arial"/>
                <a:ea typeface="Arial"/>
                <a:cs typeface="Arial"/>
              </a:defRPr>
            </a:defPPr>
          </a:lstStyle>
          <a:p xmlns:a="http://schemas.openxmlformats.org/drawingml/2006/main">
            <a:pPr algn="l">
              <a:defRPr sz="2850" b="1">
                <a:solidFill>
                  <a:srgbClr val="173247"/>
                </a:solidFill>
                <a:latin typeface="Arial"/>
                <a:ea typeface="Arial"/>
                <a:cs typeface="Arial"/>
              </a:defRPr>
            </a:pPr>
            <a:r>
              <a:rPr sz="2850" b="1">
                <a:solidFill>
                  <a:srgbClr val="173247"/>
                </a:solidFill>
                <a:latin typeface="Arial"/>
                <a:ea typeface="Arial"/>
                <a:cs typeface="Arial"/>
              </a:rPr>
              <a:t>Nodes may remain reachable through peers</a:t>
            </a:r>
          </a:p>
          <a:p xmlns:a="http://schemas.openxmlformats.org/drawingml/2006/main">
            <a:pPr algn="l">
              <a:defRPr sz="2850" b="1">
                <a:solidFill>
                  <a:srgbClr val="173247"/>
                </a:solidFill>
                <a:latin typeface="Arial"/>
                <a:ea typeface="Arial"/>
                <a:cs typeface="Arial"/>
              </a:defRPr>
            </a:pPr>
            <a:r>
              <a:rPr sz="2850" b="1">
                <a:solidFill>
                  <a:srgbClr val="173247"/>
                </a:solidFill>
                <a:latin typeface="Arial"/>
                <a:ea typeface="Arial"/>
                <a:cs typeface="Arial"/>
              </a:rPr>
              <a:t>even when their direct links fail.</a:t>
            </a:r>
          </a:p>
        </p:txBody>
      </p:sp>
      <p:sp>
        <p:nvSpPr>
          <p:cNvPr id="4" name="Consensus services need progress to remain av">
            <a:extLst xmlns:a="http://schemas.openxmlformats.org/drawingml/2006/main">
              <a:ext uri="{FF2B5EF4-FFF2-40B4-BE49-F238E27FC236}">
                <a16:creationId xmlns:a16="http://schemas.microsoft.com/office/drawing/2014/main" id="{B967E3D6-3AAC-4334-AE76-61CC1F1222D8}"/>
              </a:ext>
            </a:extLst>
          </p:cNvPr>
          <p:cNvSpPr>
            <a:spLocks xmlns:a="http://schemas.openxmlformats.org/drawingml/2006/main" noGrp="1"/>
          </p:cNvSpPr>
          <p:nvPr/>
        </p:nvSpPr>
        <p:spPr>
          <a:xfrm xmlns:a="http://schemas.openxmlformats.org/drawingml/2006/main">
            <a:off x="685800" y="28860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stStyle>
          <a:p xmlns:a="http://schemas.openxmlformats.org/drawingml/2006/main">
            <a:pPr algn="l">
              <a:defRPr sz="2100" b="0">
                <a:solidFill>
                  <a:srgbClr val="556570"/>
                </a:solidFill>
                <a:latin typeface="Arial"/>
                <a:ea typeface="Arial"/>
                <a:cs typeface="Arial"/>
              </a:defRPr>
            </a:pPr>
            <a:r>
              <a:rPr sz="2100" b="0">
                <a:solidFill>
                  <a:srgbClr val="556570"/>
                </a:solidFill>
                <a:latin typeface="Arial"/>
                <a:ea typeface="Arial"/>
                <a:cs typeface="Arial"/>
              </a:rPr>
              <a:t>Consensus services need progress to remain available.</a:t>
            </a:r>
          </a:p>
        </p:txBody>
      </p:sp>
      <p:sp>
        <p:nvSpPr>
          <p:cNvPr id="5" name="RQ1  Progress">
            <a:extLst xmlns:a="http://schemas.openxmlformats.org/drawingml/2006/main">
              <a:ext uri="{FF2B5EF4-FFF2-40B4-BE49-F238E27FC236}">
                <a16:creationId xmlns:a16="http://schemas.microsoft.com/office/drawing/2014/main" id="{04D1A19E-6F12-405C-8EDE-77D670EA4ADE}"/>
              </a:ext>
            </a:extLst>
          </p:cNvPr>
          <p:cNvSpPr>
            <a:spLocks xmlns:a="http://schemas.openxmlformats.org/drawingml/2006/main" noGrp="1"/>
          </p:cNvSpPr>
          <p:nvPr/>
        </p:nvSpPr>
        <p:spPr>
          <a:xfrm xmlns:a="http://schemas.openxmlformats.org/drawingml/2006/main">
            <a:off x="6858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RQ1  Progress</a:t>
            </a:r>
          </a:p>
        </p:txBody>
      </p:sp>
      <p:sp>
        <p:nvSpPr>
          <p:cNvPr id="6" name="When does forwarding restore&#10;stable commits?">
            <a:extLst xmlns:a="http://schemas.openxmlformats.org/drawingml/2006/main">
              <a:ext uri="{FF2B5EF4-FFF2-40B4-BE49-F238E27FC236}">
                <a16:creationId xmlns:a16="http://schemas.microsoft.com/office/drawing/2014/main" id="{B5C0F5B0-5506-4BE5-AB1D-AF6602E7F466}"/>
              </a:ext>
            </a:extLst>
          </p:cNvPr>
          <p:cNvSpPr>
            <a:spLocks xmlns:a="http://schemas.openxmlformats.org/drawingml/2006/main" noGrp="1"/>
          </p:cNvSpPr>
          <p:nvPr/>
        </p:nvSpPr>
        <p:spPr>
          <a:xfrm xmlns:a="http://schemas.openxmlformats.org/drawingml/2006/main">
            <a:off x="6858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When does forwarding restore</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stable commits?</a:t>
            </a:r>
          </a:p>
        </p:txBody>
      </p:sp>
      <p:sp>
        <p:nvSpPr>
          <p:cNvPr id="7" name="RQ2  Latency">
            <a:extLst xmlns:a="http://schemas.openxmlformats.org/drawingml/2006/main">
              <a:ext uri="{FF2B5EF4-FFF2-40B4-BE49-F238E27FC236}">
                <a16:creationId xmlns:a16="http://schemas.microsoft.com/office/drawing/2014/main" id="{E7A2A60C-FFDC-4A45-B219-562142A905F4}"/>
              </a:ext>
            </a:extLst>
          </p:cNvPr>
          <p:cNvSpPr>
            <a:spLocks xmlns:a="http://schemas.openxmlformats.org/drawingml/2006/main" noGrp="1"/>
          </p:cNvSpPr>
          <p:nvPr/>
        </p:nvSpPr>
        <p:spPr>
          <a:xfrm xmlns:a="http://schemas.openxmlformats.org/drawingml/2006/main">
            <a:off x="63246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RQ2  Latency</a:t>
            </a:r>
          </a:p>
        </p:txBody>
      </p:sp>
      <p:sp>
        <p:nvSpPr>
          <p:cNvPr id="8" name="What delay does forwarding add&#10;to client-obse">
            <a:extLst xmlns:a="http://schemas.openxmlformats.org/drawingml/2006/main">
              <a:ext uri="{FF2B5EF4-FFF2-40B4-BE49-F238E27FC236}">
                <a16:creationId xmlns:a16="http://schemas.microsoft.com/office/drawing/2014/main" id="{45C1796F-F59C-4970-8FDB-37479DC785FD}"/>
              </a:ext>
            </a:extLst>
          </p:cNvPr>
          <p:cNvSpPr>
            <a:spLocks xmlns:a="http://schemas.openxmlformats.org/drawingml/2006/main" noGrp="1"/>
          </p:cNvSpPr>
          <p:nvPr/>
        </p:nvSpPr>
        <p:spPr>
          <a:xfrm xmlns:a="http://schemas.openxmlformats.org/drawingml/2006/main">
            <a:off x="63246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What delay does forwarding add</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to client-observed commits?</a:t>
            </a:r>
          </a:p>
        </p:txBody>
      </p:sp>
      <p:sp>
        <p:nvSpPr>
          <p:cNvPr id="9" name="Goal: improve resilience while keeping the Ra">
            <a:extLst xmlns:a="http://schemas.openxmlformats.org/drawingml/2006/main">
              <a:ext uri="{FF2B5EF4-FFF2-40B4-BE49-F238E27FC236}">
                <a16:creationId xmlns:a16="http://schemas.microsoft.com/office/drawing/2014/main" id="{4972047E-47C2-4143-A5E6-715BA03BEFFB}"/>
              </a:ext>
            </a:extLst>
          </p:cNvPr>
          <p:cNvSpPr>
            <a:spLocks xmlns:a="http://schemas.openxmlformats.org/drawingml/2006/main" noGrp="1"/>
          </p:cNvSpPr>
          <p:nvPr/>
        </p:nvSpPr>
        <p:spPr>
          <a:xfrm xmlns:a="http://schemas.openxmlformats.org/drawingml/2006/main">
            <a:off x="685800" y="57721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stStyle>
          <a:p xmlns:a="http://schemas.openxmlformats.org/drawingml/2006/main">
            <a:pPr algn="l">
              <a:defRPr sz="1875" b="0">
                <a:solidFill>
                  <a:srgbClr val="007E87"/>
                </a:solidFill>
                <a:latin typeface="Arial"/>
                <a:ea typeface="Arial"/>
                <a:cs typeface="Arial"/>
              </a:defRPr>
            </a:pPr>
            <a:r>
              <a:rPr sz="1875" b="0">
                <a:solidFill>
                  <a:srgbClr val="007E87"/>
                </a:solidFill>
                <a:latin typeface="Arial"/>
                <a:ea typeface="Arial"/>
                <a:cs typeface="Arial"/>
              </a:rPr>
              <a:t>Goal: improve resilience while keeping the Raft protocol unchanged.</a:t>
            </a:r>
          </a:p>
        </p:txBody>
      </p:sp>
    </p:spTree>
    <p:extLst>
      <p:ext uri="{BB962C8B-B14F-4D97-AF65-F5344CB8AC3E}">
        <p14:creationId xmlns:p14="http://schemas.microsoft.com/office/powerpoint/2010/main" val="12287108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0C2BD69D-919D-4611-A531-D82DF7A6817E}"/>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Raft and the routing gap</a:t>
            </a:r>
          </a:p>
        </p:txBody>
      </p:sp>
      <p:sp>
        <p:nvSpPr>
          <p:cNvPr id="2" name="slide-number">
            <a:extLst xmlns:a="http://schemas.openxmlformats.org/drawingml/2006/main">
              <a:ext uri="{FF2B5EF4-FFF2-40B4-BE49-F238E27FC236}">
                <a16:creationId xmlns:a16="http://schemas.microsoft.com/office/drawing/2014/main" id="{0E0D5790-FC05-405D-AC0A-5023D38BB8D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3 / 10</a:t>
            </a:r>
          </a:p>
        </p:txBody>
      </p:sp>
      <p:sp>
        <p:nvSpPr>
          <p:cNvPr id="3" name="Raft commits after a majority stores an entry">
            <a:extLst xmlns:a="http://schemas.openxmlformats.org/drawingml/2006/main">
              <a:ext uri="{FF2B5EF4-FFF2-40B4-BE49-F238E27FC236}">
                <a16:creationId xmlns:a16="http://schemas.microsoft.com/office/drawing/2014/main" id="{7E786AB9-2F5F-4EAF-A607-42DF7F6B097B}"/>
              </a:ext>
            </a:extLst>
          </p:cNvPr>
          <p:cNvSpPr>
            <a:spLocks xmlns:a="http://schemas.openxmlformats.org/drawingml/2006/main" noGrp="1"/>
          </p:cNvSpPr>
          <p:nvPr/>
        </p:nvSpPr>
        <p:spPr>
          <a:xfrm xmlns:a="http://schemas.openxmlformats.org/drawingml/2006/main">
            <a:off x="685800" y="1657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stStyle>
          <a:p xmlns:a="http://schemas.openxmlformats.org/drawingml/2006/main">
            <a:pPr algn="l">
              <a:defRPr sz="2400" b="0">
                <a:solidFill>
                  <a:srgbClr val="173247"/>
                </a:solidFill>
                <a:latin typeface="Arial"/>
                <a:ea typeface="Arial"/>
                <a:cs typeface="Arial"/>
              </a:defRPr>
            </a:pPr>
            <a:r>
              <a:rPr sz="2400" b="0">
                <a:solidFill>
                  <a:srgbClr val="173247"/>
                </a:solidFill>
                <a:latin typeface="Arial"/>
                <a:ea typeface="Arial"/>
                <a:cs typeface="Arial"/>
              </a:rPr>
              <a:t>Raft commits after a majority stores an entry.</a:t>
            </a:r>
          </a:p>
          <a:p xmlns:a="http://schemas.openxmlformats.org/drawingml/2006/main">
            <a:pPr algn="l">
              <a:defRPr sz="2400" b="0">
                <a:solidFill>
                  <a:srgbClr val="173247"/>
                </a:solidFill>
                <a:latin typeface="Arial"/>
                <a:ea typeface="Arial"/>
                <a:cs typeface="Arial"/>
              </a:defRPr>
            </a:pPr>
            <a:r>
              <a:rPr sz="2400" b="0">
                <a:solidFill>
                  <a:srgbClr val="173247"/>
                </a:solidFill>
                <a:latin typeface="Arial"/>
                <a:ea typeface="Arial"/>
                <a:cs typeface="Arial"/>
              </a:rPr>
              <a:t>A five-node cluster needs three replicas.</a:t>
            </a:r>
          </a:p>
        </p:txBody>
      </p:sp>
      <p:sp>
        <p:nvSpPr>
          <p:cNvPr id="4" name="Jensen et al. (2021)">
            <a:extLst xmlns:a="http://schemas.openxmlformats.org/drawingml/2006/main">
              <a:ext uri="{FF2B5EF4-FFF2-40B4-BE49-F238E27FC236}">
                <a16:creationId xmlns:a16="http://schemas.microsoft.com/office/drawing/2014/main" id="{18B796DB-61E5-47D1-9357-96AE4E1346B5}"/>
              </a:ext>
            </a:extLst>
          </p:cNvPr>
          <p:cNvSpPr>
            <a:spLocks xmlns:a="http://schemas.openxmlformats.org/drawingml/2006/main" noGrp="1"/>
          </p:cNvSpPr>
          <p:nvPr/>
        </p:nvSpPr>
        <p:spPr>
          <a:xfrm xmlns:a="http://schemas.openxmlformats.org/drawingml/2006/main">
            <a:off x="685800" y="2971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Jensen et al. (2021)</a:t>
            </a:r>
          </a:p>
        </p:txBody>
      </p:sp>
      <p:sp>
        <p:nvSpPr>
          <p:cNvPr id="5" name="Propose overlays for Raft">
            <a:extLst xmlns:a="http://schemas.openxmlformats.org/drawingml/2006/main">
              <a:ext uri="{FF2B5EF4-FFF2-40B4-BE49-F238E27FC236}">
                <a16:creationId xmlns:a16="http://schemas.microsoft.com/office/drawing/2014/main" id="{F6BC46A7-7FE3-49EB-80F5-39F437274EA9}"/>
              </a:ext>
            </a:extLst>
          </p:cNvPr>
          <p:cNvSpPr>
            <a:spLocks xmlns:a="http://schemas.openxmlformats.org/drawingml/2006/main" noGrp="1"/>
          </p:cNvSpPr>
          <p:nvPr/>
        </p:nvSpPr>
        <p:spPr>
          <a:xfrm xmlns:a="http://schemas.openxmlformats.org/drawingml/2006/main">
            <a:off x="4438650" y="2971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Propose overlays for Raft</a:t>
            </a:r>
          </a:p>
        </p:txBody>
      </p:sp>
      <p:sp>
        <p:nvSpPr>
          <p:cNvPr id="6" name="Nifty (2020)">
            <a:extLst xmlns:a="http://schemas.openxmlformats.org/drawingml/2006/main">
              <a:ext uri="{FF2B5EF4-FFF2-40B4-BE49-F238E27FC236}">
                <a16:creationId xmlns:a16="http://schemas.microsoft.com/office/drawing/2014/main" id="{55709AEF-570B-42B5-BF11-895E1D7A83FC}"/>
              </a:ext>
            </a:extLst>
          </p:cNvPr>
          <p:cNvSpPr>
            <a:spLocks xmlns:a="http://schemas.openxmlformats.org/drawingml/2006/main" noGrp="1"/>
          </p:cNvSpPr>
          <p:nvPr/>
        </p:nvSpPr>
        <p:spPr>
          <a:xfrm xmlns:a="http://schemas.openxmlformats.org/drawingml/2006/main">
            <a:off x="685800" y="3733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Nifty (2020)</a:t>
            </a:r>
          </a:p>
        </p:txBody>
      </p:sp>
      <p:sp>
        <p:nvSpPr>
          <p:cNvPr id="7" name="Reroutes traffic in other systems">
            <a:extLst xmlns:a="http://schemas.openxmlformats.org/drawingml/2006/main">
              <a:ext uri="{FF2B5EF4-FFF2-40B4-BE49-F238E27FC236}">
                <a16:creationId xmlns:a16="http://schemas.microsoft.com/office/drawing/2014/main" id="{3EC502B1-12F6-4956-B013-A2F41FD7E8F7}"/>
              </a:ext>
            </a:extLst>
          </p:cNvPr>
          <p:cNvSpPr>
            <a:spLocks xmlns:a="http://schemas.openxmlformats.org/drawingml/2006/main" noGrp="1"/>
          </p:cNvSpPr>
          <p:nvPr/>
        </p:nvSpPr>
        <p:spPr>
          <a:xfrm xmlns:a="http://schemas.openxmlformats.org/drawingml/2006/main">
            <a:off x="4438650" y="3733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Reroutes traffic in other systems</a:t>
            </a:r>
          </a:p>
        </p:txBody>
      </p:sp>
      <p:sp>
        <p:nvSpPr>
          <p:cNvPr id="8" name="Omni-Paxos (2023)">
            <a:extLst xmlns:a="http://schemas.openxmlformats.org/drawingml/2006/main">
              <a:ext uri="{FF2B5EF4-FFF2-40B4-BE49-F238E27FC236}">
                <a16:creationId xmlns:a16="http://schemas.microsoft.com/office/drawing/2014/main" id="{93B1D6E6-DEA2-4AAD-AB10-30E4FA0A0F1E}"/>
              </a:ext>
            </a:extLst>
          </p:cNvPr>
          <p:cNvSpPr>
            <a:spLocks xmlns:a="http://schemas.openxmlformats.org/drawingml/2006/main" noGrp="1"/>
          </p:cNvSpPr>
          <p:nvPr/>
        </p:nvSpPr>
        <p:spPr>
          <a:xfrm xmlns:a="http://schemas.openxmlformats.org/drawingml/2006/main">
            <a:off x="685800" y="4495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Omni-Paxos (2023)</a:t>
            </a:r>
          </a:p>
        </p:txBody>
      </p:sp>
      <p:sp>
        <p:nvSpPr>
          <p:cNvPr id="9" name="Changes consensus for partial connectivity">
            <a:extLst xmlns:a="http://schemas.openxmlformats.org/drawingml/2006/main">
              <a:ext uri="{FF2B5EF4-FFF2-40B4-BE49-F238E27FC236}">
                <a16:creationId xmlns:a16="http://schemas.microsoft.com/office/drawing/2014/main" id="{9DD87E8C-4043-4988-874A-6AAE97EC20CC}"/>
              </a:ext>
            </a:extLst>
          </p:cNvPr>
          <p:cNvSpPr>
            <a:spLocks xmlns:a="http://schemas.openxmlformats.org/drawingml/2006/main" noGrp="1"/>
          </p:cNvSpPr>
          <p:nvPr/>
        </p:nvSpPr>
        <p:spPr>
          <a:xfrm xmlns:a="http://schemas.openxmlformats.org/drawingml/2006/main">
            <a:off x="4438650" y="4495800"/>
            <a:ext cx="704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Changes consensus for partial connectivity</a:t>
            </a:r>
          </a:p>
        </p:txBody>
      </p:sp>
      <p:sp>
        <p:nvSpPr>
          <p:cNvPr id="10" name="Our gap: measure routing benefits and costs b">
            <a:extLst xmlns:a="http://schemas.openxmlformats.org/drawingml/2006/main">
              <a:ext uri="{FF2B5EF4-FFF2-40B4-BE49-F238E27FC236}">
                <a16:creationId xmlns:a16="http://schemas.microsoft.com/office/drawing/2014/main" id="{69B127F2-D630-449D-83A1-450676B30826}"/>
              </a:ext>
            </a:extLst>
          </p:cNvPr>
          <p:cNvSpPr>
            <a:spLocks xmlns:a="http://schemas.openxmlformats.org/drawingml/2006/main" noGrp="1"/>
          </p:cNvSpPr>
          <p:nvPr/>
        </p:nvSpPr>
        <p:spPr>
          <a:xfrm xmlns:a="http://schemas.openxmlformats.org/drawingml/2006/main">
            <a:off x="685800" y="57150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Our gap: measure routing benefits and costs beneath unchanged Raft.</a:t>
            </a:r>
          </a:p>
        </p:txBody>
      </p:sp>
    </p:spTree>
    <p:extLst>
      <p:ext uri="{BB962C8B-B14F-4D97-AF65-F5344CB8AC3E}">
        <p14:creationId xmlns:p14="http://schemas.microsoft.com/office/powerpoint/2010/main" val="7999810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B6F9EA7A-5723-4B65-AA73-76738D67301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Controlled network experiments</a:t>
            </a:r>
          </a:p>
        </p:txBody>
      </p:sp>
      <p:sp>
        <p:nvSpPr>
          <p:cNvPr id="2" name="slide-number">
            <a:extLst xmlns:a="http://schemas.openxmlformats.org/drawingml/2006/main">
              <a:ext uri="{FF2B5EF4-FFF2-40B4-BE49-F238E27FC236}">
                <a16:creationId xmlns:a16="http://schemas.microsoft.com/office/drawing/2014/main" id="{BE87028C-E446-4ADA-974A-F05322516EC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4 / 10</a:t>
            </a:r>
          </a:p>
        </p:txBody>
      </p:sp>
      <p:sp>
        <p:nvSpPr>
          <p:cNvPr id="3" name="900">
            <a:extLst xmlns:a="http://schemas.openxmlformats.org/drawingml/2006/main">
              <a:ext uri="{FF2B5EF4-FFF2-40B4-BE49-F238E27FC236}">
                <a16:creationId xmlns:a16="http://schemas.microsoft.com/office/drawing/2014/main" id="{1FEC74C3-5F7E-407E-89A1-26204D75F4C5}"/>
              </a:ext>
            </a:extLst>
          </p:cNvPr>
          <p:cNvSpPr>
            <a:spLocks xmlns:a="http://schemas.openxmlformats.org/drawingml/2006/main" noGrp="1"/>
          </p:cNvSpPr>
          <p:nvPr/>
        </p:nvSpPr>
        <p:spPr>
          <a:xfrm xmlns:a="http://schemas.openxmlformats.org/drawingml/2006/main">
            <a:off x="685800" y="1609725"/>
            <a:ext cx="3714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007E87"/>
                </a:solidFill>
                <a:latin typeface="Arial"/>
                <a:ea typeface="Arial"/>
                <a:cs typeface="Arial"/>
              </a:defRPr>
            </a:defPPr>
          </a:lstStyle>
          <a:p xmlns:a="http://schemas.openxmlformats.org/drawingml/2006/main">
            <a:pPr algn="l">
              <a:defRPr sz="7500" b="1">
                <a:solidFill>
                  <a:srgbClr val="007E87"/>
                </a:solidFill>
                <a:latin typeface="Arial"/>
                <a:ea typeface="Arial"/>
                <a:cs typeface="Arial"/>
              </a:defRPr>
            </a:pPr>
            <a:r>
              <a:rPr sz="7500" b="1">
                <a:solidFill>
                  <a:srgbClr val="007E87"/>
                </a:solidFill>
                <a:latin typeface="Arial"/>
                <a:ea typeface="Arial"/>
                <a:cs typeface="Arial"/>
              </a:rPr>
              <a:t>900</a:t>
            </a:r>
          </a:p>
        </p:txBody>
      </p:sp>
      <p:sp>
        <p:nvSpPr>
          <p:cNvPr id="4" name="planned trials">
            <a:extLst xmlns:a="http://schemas.openxmlformats.org/drawingml/2006/main">
              <a:ext uri="{FF2B5EF4-FFF2-40B4-BE49-F238E27FC236}">
                <a16:creationId xmlns:a16="http://schemas.microsoft.com/office/drawing/2014/main" id="{46192FEE-7D8C-437D-9096-A3DC918321F4}"/>
              </a:ext>
            </a:extLst>
          </p:cNvPr>
          <p:cNvSpPr>
            <a:spLocks xmlns:a="http://schemas.openxmlformats.org/drawingml/2006/main" noGrp="1"/>
          </p:cNvSpPr>
          <p:nvPr/>
        </p:nvSpPr>
        <p:spPr>
          <a:xfrm xmlns:a="http://schemas.openxmlformats.org/drawingml/2006/main">
            <a:off x="685800" y="27622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stStyle>
          <a:p xmlns:a="http://schemas.openxmlformats.org/drawingml/2006/main">
            <a:pPr algn="l">
              <a:defRPr sz="2400" b="0">
                <a:solidFill>
                  <a:srgbClr val="173247"/>
                </a:solidFill>
                <a:latin typeface="Arial"/>
                <a:ea typeface="Arial"/>
                <a:cs typeface="Arial"/>
              </a:defRPr>
            </a:pPr>
            <a:r>
              <a:rPr sz="2400" b="0">
                <a:solidFill>
                  <a:srgbClr val="173247"/>
                </a:solidFill>
                <a:latin typeface="Arial"/>
                <a:ea typeface="Arial"/>
                <a:cs typeface="Arial"/>
              </a:rPr>
              <a:t>planned trials</a:t>
            </a:r>
          </a:p>
        </p:txBody>
      </p:sp>
      <p:sp>
        <p:nvSpPr>
          <p:cNvPr id="5" name="5 topologies&#10;2 communication modes&#10;3 link del">
            <a:extLst xmlns:a="http://schemas.openxmlformats.org/drawingml/2006/main">
              <a:ext uri="{FF2B5EF4-FFF2-40B4-BE49-F238E27FC236}">
                <a16:creationId xmlns:a16="http://schemas.microsoft.com/office/drawing/2014/main" id="{F3D73590-09D8-4825-87C6-CF96103B4D67}"/>
              </a:ext>
            </a:extLst>
          </p:cNvPr>
          <p:cNvSpPr>
            <a:spLocks xmlns:a="http://schemas.openxmlformats.org/drawingml/2006/main" noGrp="1"/>
          </p:cNvSpPr>
          <p:nvPr/>
        </p:nvSpPr>
        <p:spPr>
          <a:xfrm xmlns:a="http://schemas.openxmlformats.org/drawingml/2006/main">
            <a:off x="685800" y="3524250"/>
            <a:ext cx="3810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5 topologies</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2 communication modes</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3 link delays</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30 repetitions</a:t>
            </a:r>
          </a:p>
        </p:txBody>
      </p:sp>
      <p:sp>
        <p:nvSpPr>
          <p:cNvPr id="6" name="HashiCorp Raft in Mininet">
            <a:extLst xmlns:a="http://schemas.openxmlformats.org/drawingml/2006/main">
              <a:ext uri="{FF2B5EF4-FFF2-40B4-BE49-F238E27FC236}">
                <a16:creationId xmlns:a16="http://schemas.microsoft.com/office/drawing/2014/main" id="{9770D467-667B-4181-B5CA-38B638D57304}"/>
              </a:ext>
            </a:extLst>
          </p:cNvPr>
          <p:cNvSpPr>
            <a:spLocks xmlns:a="http://schemas.openxmlformats.org/drawingml/2006/main" noGrp="1"/>
          </p:cNvSpPr>
          <p:nvPr/>
        </p:nvSpPr>
        <p:spPr>
          <a:xfrm xmlns:a="http://schemas.openxmlformats.org/drawingml/2006/main">
            <a:off x="5295900" y="1704975"/>
            <a:ext cx="6210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3247"/>
                </a:solidFill>
                <a:latin typeface="Arial"/>
                <a:ea typeface="Arial"/>
                <a:cs typeface="Arial"/>
              </a:defRPr>
            </a:defPPr>
          </a:lstStyle>
          <a:p xmlns:a="http://schemas.openxmlformats.org/drawingml/2006/main">
            <a:pPr algn="l">
              <a:defRPr sz="2400" b="1">
                <a:solidFill>
                  <a:srgbClr val="173247"/>
                </a:solidFill>
                <a:latin typeface="Arial"/>
                <a:ea typeface="Arial"/>
                <a:cs typeface="Arial"/>
              </a:defRPr>
            </a:pPr>
            <a:r>
              <a:rPr sz="2400" b="1">
                <a:solidFill>
                  <a:srgbClr val="173247"/>
                </a:solidFill>
                <a:latin typeface="Arial"/>
                <a:ea typeface="Arial"/>
                <a:cs typeface="Arial"/>
              </a:rPr>
              <a:t>HashiCorp Raft in Mininet</a:t>
            </a:r>
          </a:p>
        </p:txBody>
      </p:sp>
      <p:sp>
        <p:nvSpPr>
          <p:cNvPr id="7" name="Direct links vs. preconfigured forwarding">
            <a:extLst xmlns:a="http://schemas.openxmlformats.org/drawingml/2006/main">
              <a:ext uri="{FF2B5EF4-FFF2-40B4-BE49-F238E27FC236}">
                <a16:creationId xmlns:a16="http://schemas.microsoft.com/office/drawing/2014/main" id="{A10617E0-E92E-4A05-A33F-3096909496EE}"/>
              </a:ext>
            </a:extLst>
          </p:cNvPr>
          <p:cNvSpPr>
            <a:spLocks xmlns:a="http://schemas.openxmlformats.org/drawingml/2006/main" noGrp="1"/>
          </p:cNvSpPr>
          <p:nvPr/>
        </p:nvSpPr>
        <p:spPr>
          <a:xfrm xmlns:a="http://schemas.openxmlformats.org/drawingml/2006/main">
            <a:off x="5295900" y="23717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Direct links vs. preconfigured forwarding</a:t>
            </a:r>
          </a:p>
        </p:txBody>
      </p:sp>
      <p:sp>
        <p:nvSpPr>
          <p:cNvPr id="8" name="Link delay: 0.5, 5 or 20 ms&#10;Heartbeat: 10 ms">
            <a:extLst xmlns:a="http://schemas.openxmlformats.org/drawingml/2006/main">
              <a:ext uri="{FF2B5EF4-FFF2-40B4-BE49-F238E27FC236}">
                <a16:creationId xmlns:a16="http://schemas.microsoft.com/office/drawing/2014/main" id="{D7BC9ED1-9E70-459B-A7EF-E96FCA206C29}"/>
              </a:ext>
            </a:extLst>
          </p:cNvPr>
          <p:cNvSpPr>
            <a:spLocks xmlns:a="http://schemas.openxmlformats.org/drawingml/2006/main" noGrp="1"/>
          </p:cNvSpPr>
          <p:nvPr/>
        </p:nvSpPr>
        <p:spPr>
          <a:xfrm xmlns:a="http://schemas.openxmlformats.org/drawingml/2006/main">
            <a:off x="5295900" y="3038475"/>
            <a:ext cx="621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Link delay: 0.5, 5 or 20 ms</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Heartbeat: 10 ms</a:t>
            </a:r>
          </a:p>
        </p:txBody>
      </p:sp>
      <p:sp>
        <p:nvSpPr>
          <p:cNvPr id="9" name="100 requests/s, 64-byte payloads">
            <a:extLst xmlns:a="http://schemas.openxmlformats.org/drawingml/2006/main">
              <a:ext uri="{FF2B5EF4-FFF2-40B4-BE49-F238E27FC236}">
                <a16:creationId xmlns:a16="http://schemas.microsoft.com/office/drawing/2014/main" id="{56315BCD-9FD3-4345-B89F-1EB039424B62}"/>
              </a:ext>
            </a:extLst>
          </p:cNvPr>
          <p:cNvSpPr>
            <a:spLocks xmlns:a="http://schemas.openxmlformats.org/drawingml/2006/main" noGrp="1"/>
          </p:cNvSpPr>
          <p:nvPr/>
        </p:nvSpPr>
        <p:spPr>
          <a:xfrm xmlns:a="http://schemas.openxmlformats.org/drawingml/2006/main">
            <a:off x="5295900" y="40862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100 requests/s, 64-byte payloads</a:t>
            </a:r>
          </a:p>
        </p:txBody>
      </p:sp>
      <p:sp>
        <p:nvSpPr>
          <p:cNvPr id="10" name="30 s warm-up, cut links, 30 s observation">
            <a:extLst xmlns:a="http://schemas.openxmlformats.org/drawingml/2006/main">
              <a:ext uri="{FF2B5EF4-FFF2-40B4-BE49-F238E27FC236}">
                <a16:creationId xmlns:a16="http://schemas.microsoft.com/office/drawing/2014/main" id="{B290E8D4-1DBE-461C-B345-748C34DC07A3}"/>
              </a:ext>
            </a:extLst>
          </p:cNvPr>
          <p:cNvSpPr>
            <a:spLocks xmlns:a="http://schemas.openxmlformats.org/drawingml/2006/main" noGrp="1"/>
          </p:cNvSpPr>
          <p:nvPr/>
        </p:nvSpPr>
        <p:spPr>
          <a:xfrm xmlns:a="http://schemas.openxmlformats.org/drawingml/2006/main">
            <a:off x="5295900" y="4791075"/>
            <a:ext cx="621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007E87"/>
                </a:solidFill>
                <a:latin typeface="Arial"/>
                <a:ea typeface="Arial"/>
                <a:cs typeface="Arial"/>
              </a:defRPr>
            </a:defPPr>
          </a:lstStyle>
          <a:p xmlns:a="http://schemas.openxmlformats.org/drawingml/2006/main">
            <a:pPr algn="l">
              <a:defRPr sz="2100" b="0">
                <a:solidFill>
                  <a:srgbClr val="007E87"/>
                </a:solidFill>
                <a:latin typeface="Arial"/>
                <a:ea typeface="Arial"/>
                <a:cs typeface="Arial"/>
              </a:defRPr>
            </a:pPr>
            <a:r>
              <a:rPr sz="2100" b="0">
                <a:solidFill>
                  <a:srgbClr val="007E87"/>
                </a:solidFill>
                <a:latin typeface="Arial"/>
                <a:ea typeface="Arial"/>
                <a:cs typeface="Arial"/>
              </a:rPr>
              <a:t>30 s warm-up, cut links, 30 s observation</a:t>
            </a:r>
          </a:p>
        </p:txBody>
      </p:sp>
      <p:sp>
        <p:nvSpPr>
          <p:cNvPr id="11" name="607 valid runs. Primary comparisons use 0.5 m">
            <a:extLst xmlns:a="http://schemas.openxmlformats.org/drawingml/2006/main">
              <a:ext uri="{FF2B5EF4-FFF2-40B4-BE49-F238E27FC236}">
                <a16:creationId xmlns:a16="http://schemas.microsoft.com/office/drawing/2014/main" id="{A123D50F-9630-4E96-B0CE-F00DB471ACC0}"/>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stStyle>
          <a:p xmlns:a="http://schemas.openxmlformats.org/drawingml/2006/main">
            <a:pPr algn="l">
              <a:defRPr sz="1875" b="0">
                <a:solidFill>
                  <a:srgbClr val="556570"/>
                </a:solidFill>
                <a:latin typeface="Arial"/>
                <a:ea typeface="Arial"/>
                <a:cs typeface="Arial"/>
              </a:defRPr>
            </a:pPr>
            <a:r>
              <a:rPr sz="1875" b="0">
                <a:solidFill>
                  <a:srgbClr val="556570"/>
                </a:solidFill>
                <a:latin typeface="Arial"/>
                <a:ea typeface="Arial"/>
                <a:cs typeface="Arial"/>
              </a:rPr>
              <a:t>607 valid runs. Primary comparisons use 0.5 ms links.</a:t>
            </a:r>
          </a:p>
        </p:txBody>
      </p:sp>
    </p:spTree>
    <p:extLst>
      <p:ext uri="{BB962C8B-B14F-4D97-AF65-F5344CB8AC3E}">
        <p14:creationId xmlns:p14="http://schemas.microsoft.com/office/powerpoint/2010/main" val="18345093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7A1FED6-7AEC-44C2-94F7-87B652044D22}"/>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Partitions test quorum access and elections</a:t>
            </a:r>
          </a:p>
        </p:txBody>
      </p:sp>
      <p:sp>
        <p:nvSpPr>
          <p:cNvPr id="2" name="slide-number">
            <a:extLst xmlns:a="http://schemas.openxmlformats.org/drawingml/2006/main">
              <a:ext uri="{FF2B5EF4-FFF2-40B4-BE49-F238E27FC236}">
                <a16:creationId xmlns:a16="http://schemas.microsoft.com/office/drawing/2014/main" id="{8260F5E6-3289-4D3F-B268-2D1E32A3F302}"/>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5 / 10</a:t>
            </a:r>
          </a:p>
        </p:txBody>
      </p:sp>
      <p:sp>
        <p:nvSpPr>
          <p:cNvPr id="3" name="T2  Quorum loss">
            <a:extLst xmlns:a="http://schemas.openxmlformats.org/drawingml/2006/main">
              <a:ext uri="{FF2B5EF4-FFF2-40B4-BE49-F238E27FC236}">
                <a16:creationId xmlns:a16="http://schemas.microsoft.com/office/drawing/2014/main" id="{D5361AAC-24A2-4B4B-8194-111292FB3001}"/>
              </a:ext>
            </a:extLst>
          </p:cNvPr>
          <p:cNvSpPr>
            <a:spLocks xmlns:a="http://schemas.openxmlformats.org/drawingml/2006/main" noGrp="1"/>
          </p:cNvSpPr>
          <p:nvPr/>
        </p:nvSpPr>
        <p:spPr>
          <a:xfrm xmlns:a="http://schemas.openxmlformats.org/drawingml/2006/main">
            <a:off x="685800" y="1762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T2  Quorum loss</a:t>
            </a:r>
          </a:p>
        </p:txBody>
      </p:sp>
      <p:sp>
        <p:nvSpPr>
          <p:cNvPr id="4" name="T3  Constrained election">
            <a:extLst xmlns:a="http://schemas.openxmlformats.org/drawingml/2006/main">
              <a:ext uri="{FF2B5EF4-FFF2-40B4-BE49-F238E27FC236}">
                <a16:creationId xmlns:a16="http://schemas.microsoft.com/office/drawing/2014/main" id="{F042C7B9-B304-4FCB-9318-BA67C1C2FDF2}"/>
              </a:ext>
            </a:extLst>
          </p:cNvPr>
          <p:cNvSpPr>
            <a:spLocks xmlns:a="http://schemas.openxmlformats.org/drawingml/2006/main" noGrp="1"/>
          </p:cNvSpPr>
          <p:nvPr/>
        </p:nvSpPr>
        <p:spPr>
          <a:xfrm xmlns:a="http://schemas.openxmlformats.org/drawingml/2006/main">
            <a:off x="6324600" y="1762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T3  Constrained election</a:t>
            </a:r>
          </a:p>
        </p:txBody>
      </p:sp>
      <p:pic>
        <p:nvPicPr>
          <p:cNvPr id="5" name="">
            <a:extLst xmlns:a="http://schemas.openxmlformats.org/drawingml/2006/main">
              <a:ext uri="{FF2B5EF4-FFF2-40B4-BE49-F238E27FC236}">
                <a16:creationId xmlns:a16="http://schemas.microsoft.com/office/drawing/2014/main" id="{7410C5F9-944A-4D67-A963-3D353100D9B0}"/>
              </a:ext>
            </a:extLst>
          </p:cNvPr>
          <p:cNvPicPr>
            <a:picLocks xmlns:a="http://schemas.openxmlformats.org/drawingml/2006/main" noChangeAspect="1"/>
          </p:cNvPicPr>
          <p:nvPr/>
        </p:nvPicPr>
        <p:blipFill>
          <a:blip xmlns:r="http://schemas.openxmlformats.org/officeDocument/2006/relationships" xmlns:a="http://schemas.openxmlformats.org/drawingml/2006/main" r:embed="Reea216b3cafa47fb"/>
          <a:stretch xmlns:a="http://schemas.openxmlformats.org/drawingml/2006/main"/>
        </p:blipFill>
        <p:spPr>
          <a:xfrm xmlns:a="http://schemas.openxmlformats.org/drawingml/2006/main">
            <a:off x="685800" y="2501993"/>
            <a:ext cx="5143500" cy="1739713"/>
          </a:xfrm>
          <a:prstGeom xmlns:a="http://schemas.openxmlformats.org/drawingml/2006/main" prst="rect">
            <a:avLst/>
          </a:prstGeom>
        </p:spPr>
      </p:pic>
      <p:sp>
        <p:nvSpPr>
          <p:cNvPr id="6" name="Direct">
            <a:extLst xmlns:a="http://schemas.openxmlformats.org/drawingml/2006/main">
              <a:ext uri="{FF2B5EF4-FFF2-40B4-BE49-F238E27FC236}">
                <a16:creationId xmlns:a16="http://schemas.microsoft.com/office/drawing/2014/main" id="{3701AD3D-A3FB-487D-B321-4268188E968A}"/>
              </a:ext>
            </a:extLst>
          </p:cNvPr>
          <p:cNvSpPr>
            <a:spLocks xmlns:a="http://schemas.openxmlformats.org/drawingml/2006/main" noGrp="1"/>
          </p:cNvSpPr>
          <p:nvPr/>
        </p:nvSpPr>
        <p:spPr>
          <a:xfrm xmlns:a="http://schemas.openxmlformats.org/drawingml/2006/main">
            <a:off x="68580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stStyle>
          <a:p xmlns:a="http://schemas.openxmlformats.org/drawingml/2006/main">
            <a:pPr algn="ctr">
              <a:defRPr sz="1725" b="0">
                <a:solidFill>
                  <a:srgbClr val="556570"/>
                </a:solidFill>
                <a:latin typeface="Arial"/>
                <a:ea typeface="Arial"/>
                <a:cs typeface="Arial"/>
              </a:defRPr>
            </a:pPr>
            <a:r>
              <a:rPr sz="1725" b="0">
                <a:solidFill>
                  <a:srgbClr val="556570"/>
                </a:solidFill>
                <a:latin typeface="Arial"/>
                <a:ea typeface="Arial"/>
                <a:cs typeface="Arial"/>
              </a:rPr>
              <a:t>Direct</a:t>
            </a:r>
          </a:p>
        </p:txBody>
      </p:sp>
      <p:sp>
        <p:nvSpPr>
          <p:cNvPr id="7" name="Forwarding">
            <a:extLst xmlns:a="http://schemas.openxmlformats.org/drawingml/2006/main">
              <a:ext uri="{FF2B5EF4-FFF2-40B4-BE49-F238E27FC236}">
                <a16:creationId xmlns:a16="http://schemas.microsoft.com/office/drawing/2014/main" id="{21F96D39-DE67-4E09-B5F7-381B4BC54D0F}"/>
              </a:ext>
            </a:extLst>
          </p:cNvPr>
          <p:cNvSpPr>
            <a:spLocks xmlns:a="http://schemas.openxmlformats.org/drawingml/2006/main" noGrp="1"/>
          </p:cNvSpPr>
          <p:nvPr/>
        </p:nvSpPr>
        <p:spPr>
          <a:xfrm xmlns:a="http://schemas.openxmlformats.org/drawingml/2006/main">
            <a:off x="337185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stStyle>
          <a:p xmlns:a="http://schemas.openxmlformats.org/drawingml/2006/main">
            <a:pPr algn="ctr">
              <a:defRPr sz="1725" b="0">
                <a:solidFill>
                  <a:srgbClr val="556570"/>
                </a:solidFill>
                <a:latin typeface="Arial"/>
                <a:ea typeface="Arial"/>
                <a:cs typeface="Arial"/>
              </a:defRPr>
            </a:pPr>
            <a:r>
              <a:rPr sz="1725" b="0">
                <a:solidFill>
                  <a:srgbClr val="556570"/>
                </a:solidFill>
                <a:latin typeface="Arial"/>
                <a:ea typeface="Arial"/>
                <a:cs typeface="Arial"/>
              </a:rPr>
              <a:t>Forwarding</a:t>
            </a:r>
          </a:p>
        </p:txBody>
      </p:sp>
      <p:pic>
        <p:nvPicPr>
          <p:cNvPr id="8" name="">
            <a:extLst xmlns:a="http://schemas.openxmlformats.org/drawingml/2006/main">
              <a:ext uri="{FF2B5EF4-FFF2-40B4-BE49-F238E27FC236}">
                <a16:creationId xmlns:a16="http://schemas.microsoft.com/office/drawing/2014/main" id="{F015D752-482A-4FB0-AE91-CBA171118A34}"/>
              </a:ext>
            </a:extLst>
          </p:cNvPr>
          <p:cNvPicPr>
            <a:picLocks xmlns:a="http://schemas.openxmlformats.org/drawingml/2006/main" noChangeAspect="1"/>
          </p:cNvPicPr>
          <p:nvPr/>
        </p:nvPicPr>
        <p:blipFill>
          <a:blip xmlns:r="http://schemas.openxmlformats.org/officeDocument/2006/relationships" xmlns:a="http://schemas.openxmlformats.org/drawingml/2006/main" r:embed="Re27a076b99784591"/>
          <a:stretch xmlns:a="http://schemas.openxmlformats.org/drawingml/2006/main"/>
        </p:blipFill>
        <p:spPr>
          <a:xfrm xmlns:a="http://schemas.openxmlformats.org/drawingml/2006/main">
            <a:off x="6324600" y="2487811"/>
            <a:ext cx="5143500" cy="1768078"/>
          </a:xfrm>
          <a:prstGeom xmlns:a="http://schemas.openxmlformats.org/drawingml/2006/main" prst="rect">
            <a:avLst/>
          </a:prstGeom>
        </p:spPr>
      </p:pic>
      <p:sp>
        <p:nvSpPr>
          <p:cNvPr id="9" name="Direct">
            <a:extLst xmlns:a="http://schemas.openxmlformats.org/drawingml/2006/main">
              <a:ext uri="{FF2B5EF4-FFF2-40B4-BE49-F238E27FC236}">
                <a16:creationId xmlns:a16="http://schemas.microsoft.com/office/drawing/2014/main" id="{4F200F03-6775-472D-9534-B2EE21092F7C}"/>
              </a:ext>
            </a:extLst>
          </p:cNvPr>
          <p:cNvSpPr>
            <a:spLocks xmlns:a="http://schemas.openxmlformats.org/drawingml/2006/main" noGrp="1"/>
          </p:cNvSpPr>
          <p:nvPr/>
        </p:nvSpPr>
        <p:spPr>
          <a:xfrm xmlns:a="http://schemas.openxmlformats.org/drawingml/2006/main">
            <a:off x="632460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stStyle>
          <a:p xmlns:a="http://schemas.openxmlformats.org/drawingml/2006/main">
            <a:pPr algn="ctr">
              <a:defRPr sz="1725" b="0">
                <a:solidFill>
                  <a:srgbClr val="556570"/>
                </a:solidFill>
                <a:latin typeface="Arial"/>
                <a:ea typeface="Arial"/>
                <a:cs typeface="Arial"/>
              </a:defRPr>
            </a:pPr>
            <a:r>
              <a:rPr sz="1725" b="0">
                <a:solidFill>
                  <a:srgbClr val="556570"/>
                </a:solidFill>
                <a:latin typeface="Arial"/>
                <a:ea typeface="Arial"/>
                <a:cs typeface="Arial"/>
              </a:rPr>
              <a:t>Direct</a:t>
            </a:r>
          </a:p>
        </p:txBody>
      </p:sp>
      <p:sp>
        <p:nvSpPr>
          <p:cNvPr id="10" name="Forwarding">
            <a:extLst xmlns:a="http://schemas.openxmlformats.org/drawingml/2006/main">
              <a:ext uri="{FF2B5EF4-FFF2-40B4-BE49-F238E27FC236}">
                <a16:creationId xmlns:a16="http://schemas.microsoft.com/office/drawing/2014/main" id="{6DC02667-B4D7-4443-92D9-EC736F22E04B}"/>
              </a:ext>
            </a:extLst>
          </p:cNvPr>
          <p:cNvSpPr>
            <a:spLocks xmlns:a="http://schemas.openxmlformats.org/drawingml/2006/main" noGrp="1"/>
          </p:cNvSpPr>
          <p:nvPr/>
        </p:nvSpPr>
        <p:spPr>
          <a:xfrm xmlns:a="http://schemas.openxmlformats.org/drawingml/2006/main">
            <a:off x="901065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stStyle>
          <a:p xmlns:a="http://schemas.openxmlformats.org/drawingml/2006/main">
            <a:pPr algn="ctr">
              <a:defRPr sz="1725" b="0">
                <a:solidFill>
                  <a:srgbClr val="556570"/>
                </a:solidFill>
                <a:latin typeface="Arial"/>
                <a:ea typeface="Arial"/>
                <a:cs typeface="Arial"/>
              </a:defRPr>
            </a:pPr>
            <a:r>
              <a:rPr sz="1725" b="0">
                <a:solidFill>
                  <a:srgbClr val="556570"/>
                </a:solidFill>
                <a:latin typeface="Arial"/>
                <a:ea typeface="Arial"/>
                <a:cs typeface="Arial"/>
              </a:rPr>
              <a:t>Forwarding</a:t>
            </a:r>
          </a:p>
        </p:txBody>
      </p:sp>
      <p:sp>
        <p:nvSpPr>
          <p:cNvPr id="11" name="Leader C loses its direct majority.&#10;A can rel">
            <a:extLst xmlns:a="http://schemas.openxmlformats.org/drawingml/2006/main">
              <a:ext uri="{FF2B5EF4-FFF2-40B4-BE49-F238E27FC236}">
                <a16:creationId xmlns:a16="http://schemas.microsoft.com/office/drawing/2014/main" id="{64169279-5E84-4396-8AC9-AEAE53D91E51}"/>
              </a:ext>
            </a:extLst>
          </p:cNvPr>
          <p:cNvSpPr>
            <a:spLocks xmlns:a="http://schemas.openxmlformats.org/drawingml/2006/main" noGrp="1"/>
          </p:cNvSpPr>
          <p:nvPr/>
        </p:nvSpPr>
        <p:spPr>
          <a:xfrm xmlns:a="http://schemas.openxmlformats.org/drawingml/2006/main">
            <a:off x="685800" y="46386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Leader C loses its direct majority.</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A can relay traffic to other nodes.</a:t>
            </a:r>
          </a:p>
        </p:txBody>
      </p:sp>
      <p:sp>
        <p:nvSpPr>
          <p:cNvPr id="12" name="C is isolated. A has an older log.&#10;Forwarding">
            <a:extLst xmlns:a="http://schemas.openxmlformats.org/drawingml/2006/main">
              <a:ext uri="{FF2B5EF4-FFF2-40B4-BE49-F238E27FC236}">
                <a16:creationId xmlns:a16="http://schemas.microsoft.com/office/drawing/2014/main" id="{BA89ADE2-E831-4615-B0AD-AE7F9769F1DD}"/>
              </a:ext>
            </a:extLst>
          </p:cNvPr>
          <p:cNvSpPr>
            <a:spLocks xmlns:a="http://schemas.openxmlformats.org/drawingml/2006/main" noGrp="1"/>
          </p:cNvSpPr>
          <p:nvPr/>
        </p:nvSpPr>
        <p:spPr>
          <a:xfrm xmlns:a="http://schemas.openxmlformats.org/drawingml/2006/main">
            <a:off x="6324600" y="46386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C is isolated. A has an older log.</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Forwarding lets B reach a majority.</a:t>
            </a:r>
          </a:p>
        </p:txBody>
      </p:sp>
      <p:sp>
        <p:nvSpPr>
          <p:cNvPr id="13" name="Solid links survive. Dashed links fail. Blue ">
            <a:extLst xmlns:a="http://schemas.openxmlformats.org/drawingml/2006/main">
              <a:ext uri="{FF2B5EF4-FFF2-40B4-BE49-F238E27FC236}">
                <a16:creationId xmlns:a16="http://schemas.microsoft.com/office/drawing/2014/main" id="{4F4CD276-504C-4C7C-805D-0A16A9337345}"/>
              </a:ext>
            </a:extLst>
          </p:cNvPr>
          <p:cNvSpPr>
            <a:spLocks xmlns:a="http://schemas.openxmlformats.org/drawingml/2006/main" noGrp="1"/>
          </p:cNvSpPr>
          <p:nvPr/>
        </p:nvSpPr>
        <p:spPr>
          <a:xfrm xmlns:a="http://schemas.openxmlformats.org/drawingml/2006/main">
            <a:off x="685800" y="54673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Solid links survive. Dashed links fail. Blue paths forward traffic.</a:t>
            </a:r>
          </a:p>
        </p:txBody>
      </p:sp>
      <p:sp>
        <p:nvSpPr>
          <p:cNvPr id="14" name="Controls: T0 healthy, T1 non-critical cut, T4">
            <a:extLst xmlns:a="http://schemas.openxmlformats.org/drawingml/2006/main">
              <a:ext uri="{FF2B5EF4-FFF2-40B4-BE49-F238E27FC236}">
                <a16:creationId xmlns:a16="http://schemas.microsoft.com/office/drawing/2014/main" id="{8AD19CA6-12B4-4A77-8795-768D542E03EF}"/>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stStyle>
          <a:p xmlns:a="http://schemas.openxmlformats.org/drawingml/2006/main">
            <a:pPr algn="l">
              <a:defRPr sz="1875" b="0">
                <a:solidFill>
                  <a:srgbClr val="556570"/>
                </a:solidFill>
                <a:latin typeface="Arial"/>
                <a:ea typeface="Arial"/>
                <a:cs typeface="Arial"/>
              </a:defRPr>
            </a:pPr>
            <a:r>
              <a:rPr sz="1875" b="0">
                <a:solidFill>
                  <a:srgbClr val="556570"/>
                </a:solidFill>
                <a:latin typeface="Arial"/>
                <a:ea typeface="Arial"/>
                <a:cs typeface="Arial"/>
              </a:rPr>
              <a:t>Controls: T0 healthy, T1 non-critical cut, T4 three-node chain</a:t>
            </a:r>
          </a:p>
        </p:txBody>
      </p:sp>
    </p:spTree>
    <p:extLst>
      <p:ext uri="{BB962C8B-B14F-4D97-AF65-F5344CB8AC3E}">
        <p14:creationId xmlns:p14="http://schemas.microsoft.com/office/powerpoint/2010/main" val="7119477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A64B51B1-45B6-4131-9C1F-D7F7C6752C15}"/>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Forwarding restores progress in T3</a:t>
            </a:r>
          </a:p>
        </p:txBody>
      </p:sp>
      <p:sp>
        <p:nvSpPr>
          <p:cNvPr id="2" name="slide-number">
            <a:extLst xmlns:a="http://schemas.openxmlformats.org/drawingml/2006/main">
              <a:ext uri="{FF2B5EF4-FFF2-40B4-BE49-F238E27FC236}">
                <a16:creationId xmlns:a16="http://schemas.microsoft.com/office/drawing/2014/main" id="{DE94A5C5-82B8-4B18-A1E8-1B6AE2ADB93F}"/>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6 / 10</a:t>
            </a:r>
          </a:p>
        </p:txBody>
      </p:sp>
      <p:graphicFrame>
        <p:nvGraphicFramePr>
          <p:cNvPr id="3" name="Chart">
            <a:extLst xmlns:a="http://schemas.openxmlformats.org/drawingml/2006/main">
              <a:ext uri="{FF2B5EF4-FFF2-40B4-BE49-F238E27FC236}">
                <a16:creationId xmlns:a16="http://schemas.microsoft.com/office/drawing/2014/main" id="{6CF8E6FC-9795-40CB-9AE6-E60B7455D341}"/>
              </a:ext>
            </a:extLst>
          </p:cNvPr>
          <p:cNvGraphicFramePr/>
          <p:nvPr/>
        </p:nvGraphicFramePr>
        <p:xfrm>
          <a:off xmlns:a="http://schemas.openxmlformats.org/drawingml/2006/main" x="685800" y="1943100"/>
          <a:ext xmlns:a="http://schemas.openxmlformats.org/drawingml/2006/main" cx="7429500" cy="3790950"/>
        </p:xfrm>
        <a:graphic xmlns:a="http://schemas.openxmlformats.org/drawingml/2006/main">
          <a:graphicData uri="http://schemas.openxmlformats.org/drawingml/2006/chart">
            <c:chart xmlns:r="http://schemas.openxmlformats.org/officeDocument/2006/relationships" xmlns:c="http://schemas.openxmlformats.org/drawingml/2006/chart" r:id="R86e7dc6ed53f4a7a"/>
          </a:graphicData>
        </a:graphic>
      </p:graphicFrame>
      <p:sp>
        <p:nvSpPr>
          <p:cNvPr id="4" name="Commit throughput (entries/s)">
            <a:extLst xmlns:a="http://schemas.openxmlformats.org/drawingml/2006/main">
              <a:ext uri="{FF2B5EF4-FFF2-40B4-BE49-F238E27FC236}">
                <a16:creationId xmlns:a16="http://schemas.microsoft.com/office/drawing/2014/main" id="{1C916EDB-91D7-4184-B01E-14D53B385E28}"/>
              </a:ext>
            </a:extLst>
          </p:cNvPr>
          <p:cNvSpPr>
            <a:spLocks xmlns:a="http://schemas.openxmlformats.org/drawingml/2006/main" noGrp="1"/>
          </p:cNvSpPr>
          <p:nvPr/>
        </p:nvSpPr>
        <p:spPr>
          <a:xfrm xmlns:a="http://schemas.openxmlformats.org/drawingml/2006/main">
            <a:off x="723900" y="1562100"/>
            <a:ext cx="733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stStyle>
          <a:p xmlns:a="http://schemas.openxmlformats.org/drawingml/2006/main">
            <a:pPr algn="l">
              <a:defRPr sz="1800" b="0">
                <a:solidFill>
                  <a:srgbClr val="556570"/>
                </a:solidFill>
                <a:latin typeface="Arial"/>
                <a:ea typeface="Arial"/>
                <a:cs typeface="Arial"/>
              </a:defRPr>
            </a:pPr>
            <a:r>
              <a:rPr sz="1800" b="0">
                <a:solidFill>
                  <a:srgbClr val="556570"/>
                </a:solidFill>
                <a:latin typeface="Arial"/>
                <a:ea typeface="Arial"/>
                <a:cs typeface="Arial"/>
              </a:rPr>
              <a:t>Commit throughput (entries/s)</a:t>
            </a:r>
          </a:p>
        </p:txBody>
      </p:sp>
      <p:sp>
        <p:nvSpPr>
          <p:cNvPr id="5" name="T2  Quorum loss">
            <a:extLst xmlns:a="http://schemas.openxmlformats.org/drawingml/2006/main">
              <a:ext uri="{FF2B5EF4-FFF2-40B4-BE49-F238E27FC236}">
                <a16:creationId xmlns:a16="http://schemas.microsoft.com/office/drawing/2014/main" id="{246326B3-3DEE-46C9-8E29-C25AB3E2F468}"/>
              </a:ext>
            </a:extLst>
          </p:cNvPr>
          <p:cNvSpPr>
            <a:spLocks xmlns:a="http://schemas.openxmlformats.org/drawingml/2006/main" noGrp="1"/>
          </p:cNvSpPr>
          <p:nvPr/>
        </p:nvSpPr>
        <p:spPr>
          <a:xfrm xmlns:a="http://schemas.openxmlformats.org/drawingml/2006/main">
            <a:off x="8553450" y="217170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T2  Quorum loss</a:t>
            </a:r>
          </a:p>
        </p:txBody>
      </p:sp>
      <p:sp>
        <p:nvSpPr>
          <p:cNvPr id="6" name="+52%">
            <a:extLst xmlns:a="http://schemas.openxmlformats.org/drawingml/2006/main">
              <a:ext uri="{FF2B5EF4-FFF2-40B4-BE49-F238E27FC236}">
                <a16:creationId xmlns:a16="http://schemas.microsoft.com/office/drawing/2014/main" id="{E8F73D72-C4AA-406B-B818-A21586F8BE6D}"/>
              </a:ext>
            </a:extLst>
          </p:cNvPr>
          <p:cNvSpPr>
            <a:spLocks xmlns:a="http://schemas.openxmlformats.org/drawingml/2006/main" noGrp="1"/>
          </p:cNvSpPr>
          <p:nvPr/>
        </p:nvSpPr>
        <p:spPr>
          <a:xfrm xmlns:a="http://schemas.openxmlformats.org/drawingml/2006/main">
            <a:off x="8553450" y="26479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173247"/>
                </a:solidFill>
                <a:latin typeface="Arial"/>
                <a:ea typeface="Arial"/>
                <a:cs typeface="Arial"/>
              </a:defRPr>
            </a:defPPr>
          </a:lstStyle>
          <a:p xmlns:a="http://schemas.openxmlformats.org/drawingml/2006/main">
            <a:pPr algn="l">
              <a:defRPr sz="4050" b="1">
                <a:solidFill>
                  <a:srgbClr val="173247"/>
                </a:solidFill>
                <a:latin typeface="Arial"/>
                <a:ea typeface="Arial"/>
                <a:cs typeface="Arial"/>
              </a:defRPr>
            </a:pPr>
            <a:r>
              <a:rPr sz="4050" b="1">
                <a:solidFill>
                  <a:srgbClr val="173247"/>
                </a:solidFill>
                <a:latin typeface="Arial"/>
                <a:ea typeface="Arial"/>
                <a:cs typeface="Arial"/>
              </a:rPr>
              <a:t>+52%</a:t>
            </a:r>
          </a:p>
        </p:txBody>
      </p:sp>
      <p:sp>
        <p:nvSpPr>
          <p:cNvPr id="7" name="higher mean throughput">
            <a:extLst xmlns:a="http://schemas.openxmlformats.org/drawingml/2006/main">
              <a:ext uri="{FF2B5EF4-FFF2-40B4-BE49-F238E27FC236}">
                <a16:creationId xmlns:a16="http://schemas.microsoft.com/office/drawing/2014/main" id="{120E2779-F3D4-40CC-A4E5-DC36CE73D946}"/>
              </a:ext>
            </a:extLst>
          </p:cNvPr>
          <p:cNvSpPr>
            <a:spLocks xmlns:a="http://schemas.openxmlformats.org/drawingml/2006/main" noGrp="1"/>
          </p:cNvSpPr>
          <p:nvPr/>
        </p:nvSpPr>
        <p:spPr>
          <a:xfrm xmlns:a="http://schemas.openxmlformats.org/drawingml/2006/main">
            <a:off x="8553450" y="3390900"/>
            <a:ext cx="295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higher mean throughput</a:t>
            </a:r>
          </a:p>
        </p:txBody>
      </p:sp>
      <p:sp>
        <p:nvSpPr>
          <p:cNvPr id="8" name="T3  Recovery">
            <a:extLst xmlns:a="http://schemas.openxmlformats.org/drawingml/2006/main">
              <a:ext uri="{FF2B5EF4-FFF2-40B4-BE49-F238E27FC236}">
                <a16:creationId xmlns:a16="http://schemas.microsoft.com/office/drawing/2014/main" id="{79341E66-5FDF-44E2-845E-827DA78C2F43}"/>
              </a:ext>
            </a:extLst>
          </p:cNvPr>
          <p:cNvSpPr>
            <a:spLocks xmlns:a="http://schemas.openxmlformats.org/drawingml/2006/main" noGrp="1"/>
          </p:cNvSpPr>
          <p:nvPr/>
        </p:nvSpPr>
        <p:spPr>
          <a:xfrm xmlns:a="http://schemas.openxmlformats.org/drawingml/2006/main">
            <a:off x="8553450" y="421005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T3  Recovery</a:t>
            </a:r>
          </a:p>
        </p:txBody>
      </p:sp>
      <p:sp>
        <p:nvSpPr>
          <p:cNvPr id="9" name="30/30 runs recover&#10;20.27 s mean recovery">
            <a:extLst xmlns:a="http://schemas.openxmlformats.org/drawingml/2006/main">
              <a:ext uri="{FF2B5EF4-FFF2-40B4-BE49-F238E27FC236}">
                <a16:creationId xmlns:a16="http://schemas.microsoft.com/office/drawing/2014/main" id="{D435C4D1-64C7-4D1E-A75F-34ACABEF3B32}"/>
              </a:ext>
            </a:extLst>
          </p:cNvPr>
          <p:cNvSpPr>
            <a:spLocks xmlns:a="http://schemas.openxmlformats.org/drawingml/2006/main" noGrp="1"/>
          </p:cNvSpPr>
          <p:nvPr/>
        </p:nvSpPr>
        <p:spPr>
          <a:xfrm xmlns:a="http://schemas.openxmlformats.org/drawingml/2006/main">
            <a:off x="8553450" y="4705350"/>
            <a:ext cx="295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30/30 runs recover</a:t>
            </a:r>
          </a:p>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20.27 s mean recovery</a:t>
            </a:r>
          </a:p>
        </p:txBody>
      </p:sp>
      <p:sp>
        <p:nvSpPr>
          <p:cNvPr id="10" name="0.5 ms per link, 30 runs per condition. Bars ">
            <a:extLst xmlns:a="http://schemas.openxmlformats.org/drawingml/2006/main">
              <a:ext uri="{FF2B5EF4-FFF2-40B4-BE49-F238E27FC236}">
                <a16:creationId xmlns:a16="http://schemas.microsoft.com/office/drawing/2014/main" id="{7AFC0D48-5FD6-4FD8-B5AA-B53AB1B021F5}"/>
              </a:ext>
            </a:extLst>
          </p:cNvPr>
          <p:cNvSpPr>
            <a:spLocks xmlns:a="http://schemas.openxmlformats.org/drawingml/2006/main" noGrp="1"/>
          </p:cNvSpPr>
          <p:nvPr/>
        </p:nvSpPr>
        <p:spPr>
          <a:xfrm xmlns:a="http://schemas.openxmlformats.org/drawingml/2006/main">
            <a:off x="685800" y="591502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stStyle>
          <a:p xmlns:a="http://schemas.openxmlformats.org/drawingml/2006/main">
            <a:pPr algn="l">
              <a:defRPr sz="1800" b="0">
                <a:solidFill>
                  <a:srgbClr val="556570"/>
                </a:solidFill>
                <a:latin typeface="Arial"/>
                <a:ea typeface="Arial"/>
                <a:cs typeface="Arial"/>
              </a:defRPr>
            </a:pPr>
            <a:r>
              <a:rPr sz="1800" b="0">
                <a:solidFill>
                  <a:srgbClr val="556570"/>
                </a:solidFill>
                <a:latin typeface="Arial"/>
                <a:ea typeface="Arial"/>
                <a:cs typeface="Arial"/>
              </a:rPr>
              <a:t>0.5 ms per link, 30 runs per condition. Bars show means.</a:t>
            </a:r>
          </a:p>
        </p:txBody>
      </p:sp>
    </p:spTree>
    <p:extLst>
      <p:ext uri="{BB962C8B-B14F-4D97-AF65-F5344CB8AC3E}">
        <p14:creationId xmlns:p14="http://schemas.microsoft.com/office/powerpoint/2010/main" val="11661754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428F86E1-4947-44E4-A2F8-A8D9317910C1}"/>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A forwarded quorum adds commit latency</a:t>
            </a:r>
          </a:p>
        </p:txBody>
      </p:sp>
      <p:sp>
        <p:nvSpPr>
          <p:cNvPr id="2" name="slide-number">
            <a:extLst xmlns:a="http://schemas.openxmlformats.org/drawingml/2006/main">
              <a:ext uri="{FF2B5EF4-FFF2-40B4-BE49-F238E27FC236}">
                <a16:creationId xmlns:a16="http://schemas.microsoft.com/office/drawing/2014/main" id="{24CA4258-AB15-488D-A8B3-1D78A5636BF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7 / 10</a:t>
            </a:r>
          </a:p>
        </p:txBody>
      </p:sp>
      <p:graphicFrame>
        <p:nvGraphicFramePr>
          <p:cNvPr id="3" name="Chart">
            <a:extLst xmlns:a="http://schemas.openxmlformats.org/drawingml/2006/main">
              <a:ext uri="{FF2B5EF4-FFF2-40B4-BE49-F238E27FC236}">
                <a16:creationId xmlns:a16="http://schemas.microsoft.com/office/drawing/2014/main" id="{AF687C2B-DEAE-46A9-805D-AAD5424A688A}"/>
              </a:ext>
            </a:extLst>
          </p:cNvPr>
          <p:cNvGraphicFramePr/>
          <p:nvPr/>
        </p:nvGraphicFramePr>
        <p:xfrm>
          <a:off xmlns:a="http://schemas.openxmlformats.org/drawingml/2006/main" x="685800" y="1943100"/>
          <a:ext xmlns:a="http://schemas.openxmlformats.org/drawingml/2006/main" cx="7429500" cy="3790950"/>
        </p:xfrm>
        <a:graphic xmlns:a="http://schemas.openxmlformats.org/drawingml/2006/main">
          <a:graphicData uri="http://schemas.openxmlformats.org/drawingml/2006/chart">
            <c:chart xmlns:r="http://schemas.openxmlformats.org/officeDocument/2006/relationships" xmlns:c="http://schemas.openxmlformats.org/drawingml/2006/chart" r:id="Re45213037f2f4ee0"/>
          </a:graphicData>
        </a:graphic>
      </p:graphicFrame>
      <p:sp>
        <p:nvSpPr>
          <p:cNvPr id="4" name="Mean of per-run median commit latency (ms)">
            <a:extLst xmlns:a="http://schemas.openxmlformats.org/drawingml/2006/main">
              <a:ext uri="{FF2B5EF4-FFF2-40B4-BE49-F238E27FC236}">
                <a16:creationId xmlns:a16="http://schemas.microsoft.com/office/drawing/2014/main" id="{2BAFB24C-595D-4C1F-9E5A-C98A0EA4C321}"/>
              </a:ext>
            </a:extLst>
          </p:cNvPr>
          <p:cNvSpPr>
            <a:spLocks xmlns:a="http://schemas.openxmlformats.org/drawingml/2006/main" noGrp="1"/>
          </p:cNvSpPr>
          <p:nvPr/>
        </p:nvSpPr>
        <p:spPr>
          <a:xfrm xmlns:a="http://schemas.openxmlformats.org/drawingml/2006/main">
            <a:off x="723900" y="1562100"/>
            <a:ext cx="733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stStyle>
          <a:p xmlns:a="http://schemas.openxmlformats.org/drawingml/2006/main">
            <a:pPr algn="l">
              <a:defRPr sz="1800" b="0">
                <a:solidFill>
                  <a:srgbClr val="556570"/>
                </a:solidFill>
                <a:latin typeface="Arial"/>
                <a:ea typeface="Arial"/>
                <a:cs typeface="Arial"/>
              </a:defRPr>
            </a:pPr>
            <a:r>
              <a:rPr sz="1800" b="0">
                <a:solidFill>
                  <a:srgbClr val="556570"/>
                </a:solidFill>
                <a:latin typeface="Arial"/>
                <a:ea typeface="Arial"/>
                <a:cs typeface="Arial"/>
              </a:rPr>
              <a:t>Mean of per-run median commit latency (ms)</a:t>
            </a:r>
          </a:p>
        </p:txBody>
      </p:sp>
      <p:sp>
        <p:nvSpPr>
          <p:cNvPr id="5" name="T2  Quorum loss">
            <a:extLst xmlns:a="http://schemas.openxmlformats.org/drawingml/2006/main">
              <a:ext uri="{FF2B5EF4-FFF2-40B4-BE49-F238E27FC236}">
                <a16:creationId xmlns:a16="http://schemas.microsoft.com/office/drawing/2014/main" id="{CD8223AB-D3B2-4396-A890-E8A9E4F00226}"/>
              </a:ext>
            </a:extLst>
          </p:cNvPr>
          <p:cNvSpPr>
            <a:spLocks xmlns:a="http://schemas.openxmlformats.org/drawingml/2006/main" noGrp="1"/>
          </p:cNvSpPr>
          <p:nvPr/>
        </p:nvSpPr>
        <p:spPr>
          <a:xfrm xmlns:a="http://schemas.openxmlformats.org/drawingml/2006/main">
            <a:off x="8553450" y="220980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T2  Quorum loss</a:t>
            </a:r>
          </a:p>
        </p:txBody>
      </p:sp>
      <p:sp>
        <p:nvSpPr>
          <p:cNvPr id="6" name="1.60 to 3.05 ms">
            <a:extLst xmlns:a="http://schemas.openxmlformats.org/drawingml/2006/main">
              <a:ext uri="{FF2B5EF4-FFF2-40B4-BE49-F238E27FC236}">
                <a16:creationId xmlns:a16="http://schemas.microsoft.com/office/drawing/2014/main" id="{AA25968A-0314-404D-8BFB-96EB5C4DC30E}"/>
              </a:ext>
            </a:extLst>
          </p:cNvPr>
          <p:cNvSpPr>
            <a:spLocks xmlns:a="http://schemas.openxmlformats.org/drawingml/2006/main" noGrp="1"/>
          </p:cNvSpPr>
          <p:nvPr/>
        </p:nvSpPr>
        <p:spPr>
          <a:xfrm xmlns:a="http://schemas.openxmlformats.org/drawingml/2006/main">
            <a:off x="8553450" y="2752725"/>
            <a:ext cx="295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3247"/>
                </a:solidFill>
                <a:latin typeface="Arial"/>
                <a:ea typeface="Arial"/>
                <a:cs typeface="Arial"/>
              </a:defRPr>
            </a:defPPr>
          </a:lstStyle>
          <a:p xmlns:a="http://schemas.openxmlformats.org/drawingml/2006/main">
            <a:pPr algn="l">
              <a:defRPr sz="2850" b="1">
                <a:solidFill>
                  <a:srgbClr val="173247"/>
                </a:solidFill>
                <a:latin typeface="Arial"/>
                <a:ea typeface="Arial"/>
                <a:cs typeface="Arial"/>
              </a:defRPr>
            </a:pPr>
            <a:r>
              <a:rPr sz="2850" b="1">
                <a:solidFill>
                  <a:srgbClr val="173247"/>
                </a:solidFill>
                <a:latin typeface="Arial"/>
                <a:ea typeface="Arial"/>
                <a:cs typeface="Arial"/>
              </a:rPr>
              <a:t>1.60 to 3.05 ms</a:t>
            </a:r>
          </a:p>
        </p:txBody>
      </p:sp>
      <p:sp>
        <p:nvSpPr>
          <p:cNvPr id="7" name="About twice the latency">
            <a:extLst xmlns:a="http://schemas.openxmlformats.org/drawingml/2006/main">
              <a:ext uri="{FF2B5EF4-FFF2-40B4-BE49-F238E27FC236}">
                <a16:creationId xmlns:a16="http://schemas.microsoft.com/office/drawing/2014/main" id="{2C413783-F657-41AC-A43A-2B844E20C456}"/>
              </a:ext>
            </a:extLst>
          </p:cNvPr>
          <p:cNvSpPr>
            <a:spLocks xmlns:a="http://schemas.openxmlformats.org/drawingml/2006/main" noGrp="1"/>
          </p:cNvSpPr>
          <p:nvPr/>
        </p:nvSpPr>
        <p:spPr>
          <a:xfrm xmlns:a="http://schemas.openxmlformats.org/drawingml/2006/main">
            <a:off x="8553450" y="3752850"/>
            <a:ext cx="295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About twice the latency</a:t>
            </a:r>
          </a:p>
        </p:txBody>
      </p:sp>
      <p:sp>
        <p:nvSpPr>
          <p:cNvPr id="8" name="T3 forwarding: 2.55 ms&#10;No direct commits">
            <a:extLst xmlns:a="http://schemas.openxmlformats.org/drawingml/2006/main">
              <a:ext uri="{FF2B5EF4-FFF2-40B4-BE49-F238E27FC236}">
                <a16:creationId xmlns:a16="http://schemas.microsoft.com/office/drawing/2014/main" id="{CEEB4232-E2C8-4727-8B64-C9BB6C7D305F}"/>
              </a:ext>
            </a:extLst>
          </p:cNvPr>
          <p:cNvSpPr>
            <a:spLocks xmlns:a="http://schemas.openxmlformats.org/drawingml/2006/main" noGrp="1"/>
          </p:cNvSpPr>
          <p:nvPr/>
        </p:nvSpPr>
        <p:spPr>
          <a:xfrm xmlns:a="http://schemas.openxmlformats.org/drawingml/2006/main">
            <a:off x="8553450" y="4905375"/>
            <a:ext cx="295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stStyle>
          <a:p xmlns:a="http://schemas.openxmlformats.org/drawingml/2006/main">
            <a:pPr algn="l">
              <a:defRPr sz="1875" b="0">
                <a:solidFill>
                  <a:srgbClr val="556570"/>
                </a:solidFill>
                <a:latin typeface="Arial"/>
                <a:ea typeface="Arial"/>
                <a:cs typeface="Arial"/>
              </a:defRPr>
            </a:pPr>
            <a:r>
              <a:rPr sz="1875" b="0">
                <a:solidFill>
                  <a:srgbClr val="556570"/>
                </a:solidFill>
                <a:latin typeface="Arial"/>
                <a:ea typeface="Arial"/>
                <a:cs typeface="Arial"/>
              </a:rPr>
              <a:t>T3 forwarding: 2.55 ms</a:t>
            </a:r>
          </a:p>
          <a:p xmlns:a="http://schemas.openxmlformats.org/drawingml/2006/main">
            <a:pPr algn="l">
              <a:defRPr sz="1875" b="0">
                <a:solidFill>
                  <a:srgbClr val="556570"/>
                </a:solidFill>
                <a:latin typeface="Arial"/>
                <a:ea typeface="Arial"/>
                <a:cs typeface="Arial"/>
              </a:defRPr>
            </a:pPr>
            <a:r>
              <a:rPr sz="1875" b="0">
                <a:solidFill>
                  <a:srgbClr val="556570"/>
                </a:solidFill>
                <a:latin typeface="Arial"/>
                <a:ea typeface="Arial"/>
                <a:cs typeface="Arial"/>
              </a:rPr>
              <a:t>No direct commits</a:t>
            </a:r>
          </a:p>
        </p:txBody>
      </p:sp>
      <p:sp>
        <p:nvSpPr>
          <p:cNvPr id="9" name="0.5 ms per link, 30 runs per condition. Succe">
            <a:extLst xmlns:a="http://schemas.openxmlformats.org/drawingml/2006/main">
              <a:ext uri="{FF2B5EF4-FFF2-40B4-BE49-F238E27FC236}">
                <a16:creationId xmlns:a16="http://schemas.microsoft.com/office/drawing/2014/main" id="{97891B12-EFE6-4038-B5D3-A9F5D8002290}"/>
              </a:ext>
            </a:extLst>
          </p:cNvPr>
          <p:cNvSpPr>
            <a:spLocks xmlns:a="http://schemas.openxmlformats.org/drawingml/2006/main" noGrp="1"/>
          </p:cNvSpPr>
          <p:nvPr/>
        </p:nvSpPr>
        <p:spPr>
          <a:xfrm xmlns:a="http://schemas.openxmlformats.org/drawingml/2006/main">
            <a:off x="685800" y="591502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stStyle>
          <a:p xmlns:a="http://schemas.openxmlformats.org/drawingml/2006/main">
            <a:pPr algn="l">
              <a:defRPr sz="1800" b="0">
                <a:solidFill>
                  <a:srgbClr val="556570"/>
                </a:solidFill>
                <a:latin typeface="Arial"/>
                <a:ea typeface="Arial"/>
                <a:cs typeface="Arial"/>
              </a:defRPr>
            </a:pPr>
            <a:r>
              <a:rPr sz="1800" b="0">
                <a:solidFill>
                  <a:srgbClr val="556570"/>
                </a:solidFill>
                <a:latin typeface="Arial"/>
                <a:ea typeface="Arial"/>
                <a:cs typeface="Arial"/>
              </a:rPr>
              <a:t>0.5 ms per link, 30 runs per condition. Successful commits only.</a:t>
            </a:r>
          </a:p>
        </p:txBody>
      </p:sp>
    </p:spTree>
    <p:extLst>
      <p:ext uri="{BB962C8B-B14F-4D97-AF65-F5344CB8AC3E}">
        <p14:creationId xmlns:p14="http://schemas.microsoft.com/office/powerpoint/2010/main" val="12876995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293DF8D7-D3D1-49C3-B4AB-4A56A66BA199}"/>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Routing can improve resilience at a cost</a:t>
            </a:r>
          </a:p>
        </p:txBody>
      </p:sp>
      <p:sp>
        <p:nvSpPr>
          <p:cNvPr id="2" name="slide-number">
            <a:extLst xmlns:a="http://schemas.openxmlformats.org/drawingml/2006/main">
              <a:ext uri="{FF2B5EF4-FFF2-40B4-BE49-F238E27FC236}">
                <a16:creationId xmlns:a16="http://schemas.microsoft.com/office/drawing/2014/main" id="{B2DE598D-E7DE-4A0C-84D1-330D73BF01B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8 / 10</a:t>
            </a:r>
          </a:p>
        </p:txBody>
      </p:sp>
      <p:sp>
        <p:nvSpPr>
          <p:cNvPr id="3" name="Progress">
            <a:extLst xmlns:a="http://schemas.openxmlformats.org/drawingml/2006/main">
              <a:ext uri="{FF2B5EF4-FFF2-40B4-BE49-F238E27FC236}">
                <a16:creationId xmlns:a16="http://schemas.microsoft.com/office/drawing/2014/main" id="{8F35AD07-6234-49AC-8F86-1F7A2158AADB}"/>
              </a:ext>
            </a:extLst>
          </p:cNvPr>
          <p:cNvSpPr>
            <a:spLocks xmlns:a="http://schemas.openxmlformats.org/drawingml/2006/main" noGrp="1"/>
          </p:cNvSpPr>
          <p:nvPr/>
        </p:nvSpPr>
        <p:spPr>
          <a:xfrm xmlns:a="http://schemas.openxmlformats.org/drawingml/2006/main">
            <a:off x="685800" y="17907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Progress</a:t>
            </a:r>
          </a:p>
        </p:txBody>
      </p:sp>
      <p:sp>
        <p:nvSpPr>
          <p:cNvPr id="4" name="Forwarding rescues T3 and improves T2 through">
            <a:extLst xmlns:a="http://schemas.openxmlformats.org/drawingml/2006/main">
              <a:ext uri="{FF2B5EF4-FFF2-40B4-BE49-F238E27FC236}">
                <a16:creationId xmlns:a16="http://schemas.microsoft.com/office/drawing/2014/main" id="{538DCF39-E3C5-4F4F-BDB7-C53C1639E6B8}"/>
              </a:ext>
            </a:extLst>
          </p:cNvPr>
          <p:cNvSpPr>
            <a:spLocks xmlns:a="http://schemas.openxmlformats.org/drawingml/2006/main" noGrp="1"/>
          </p:cNvSpPr>
          <p:nvPr/>
        </p:nvSpPr>
        <p:spPr>
          <a:xfrm xmlns:a="http://schemas.openxmlformats.org/drawingml/2006/main">
            <a:off x="685800" y="2314575"/>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stStyle>
          <a:p xmlns:a="http://schemas.openxmlformats.org/drawingml/2006/main">
            <a:pPr algn="l">
              <a:defRPr sz="2700" b="1">
                <a:solidFill>
                  <a:srgbClr val="173247"/>
                </a:solidFill>
                <a:latin typeface="Arial"/>
                <a:ea typeface="Arial"/>
                <a:cs typeface="Arial"/>
              </a:defRPr>
            </a:pPr>
            <a:r>
              <a:rPr sz="2700" b="1">
                <a:solidFill>
                  <a:srgbClr val="173247"/>
                </a:solidFill>
                <a:latin typeface="Arial"/>
                <a:ea typeface="Arial"/>
                <a:cs typeface="Arial"/>
              </a:rPr>
              <a:t>Forwarding rescues T3 and improves T2 throughput.</a:t>
            </a:r>
          </a:p>
        </p:txBody>
      </p:sp>
      <p:sp>
        <p:nvSpPr>
          <p:cNvPr id="5" name="Cost">
            <a:extLst xmlns:a="http://schemas.openxmlformats.org/drawingml/2006/main">
              <a:ext uri="{FF2B5EF4-FFF2-40B4-BE49-F238E27FC236}">
                <a16:creationId xmlns:a16="http://schemas.microsoft.com/office/drawing/2014/main" id="{56E927AB-D4F2-45A9-A49C-2BFB4A2D275B}"/>
              </a:ext>
            </a:extLst>
          </p:cNvPr>
          <p:cNvSpPr>
            <a:spLocks xmlns:a="http://schemas.openxmlformats.org/drawingml/2006/main" noGrp="1"/>
          </p:cNvSpPr>
          <p:nvPr/>
        </p:nvSpPr>
        <p:spPr>
          <a:xfrm xmlns:a="http://schemas.openxmlformats.org/drawingml/2006/main">
            <a:off x="685800" y="3524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Cost</a:t>
            </a:r>
          </a:p>
        </p:txBody>
      </p:sp>
      <p:sp>
        <p:nvSpPr>
          <p:cNvPr id="6" name="Commits take longer when the majority needs e">
            <a:extLst xmlns:a="http://schemas.openxmlformats.org/drawingml/2006/main">
              <a:ext uri="{FF2B5EF4-FFF2-40B4-BE49-F238E27FC236}">
                <a16:creationId xmlns:a16="http://schemas.microsoft.com/office/drawing/2014/main" id="{3AC943BC-0498-4800-9AEE-85C3936A6002}"/>
              </a:ext>
            </a:extLst>
          </p:cNvPr>
          <p:cNvSpPr>
            <a:spLocks xmlns:a="http://schemas.openxmlformats.org/drawingml/2006/main" noGrp="1"/>
          </p:cNvSpPr>
          <p:nvPr/>
        </p:nvSpPr>
        <p:spPr>
          <a:xfrm xmlns:a="http://schemas.openxmlformats.org/drawingml/2006/main">
            <a:off x="685800" y="4048125"/>
            <a:ext cx="1082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stStyle>
          <a:p xmlns:a="http://schemas.openxmlformats.org/drawingml/2006/main">
            <a:pPr algn="l">
              <a:defRPr sz="2700" b="1">
                <a:solidFill>
                  <a:srgbClr val="173247"/>
                </a:solidFill>
                <a:latin typeface="Arial"/>
                <a:ea typeface="Arial"/>
                <a:cs typeface="Arial"/>
              </a:defRPr>
            </a:pPr>
            <a:r>
              <a:rPr sz="2700" b="1">
                <a:solidFill>
                  <a:srgbClr val="173247"/>
                </a:solidFill>
                <a:latin typeface="Arial"/>
                <a:ea typeface="Arial"/>
                <a:cs typeface="Arial"/>
              </a:rPr>
              <a:t>Commits take longer when the majority needs extra hops.</a:t>
            </a:r>
          </a:p>
        </p:txBody>
      </p:sp>
      <p:sp>
        <p:nvSpPr>
          <p:cNvPr id="7" name="Evidence focuses on 0.5 ms links.&#10;At 5 and 20">
            <a:extLst xmlns:a="http://schemas.openxmlformats.org/drawingml/2006/main">
              <a:ext uri="{FF2B5EF4-FFF2-40B4-BE49-F238E27FC236}">
                <a16:creationId xmlns:a16="http://schemas.microsoft.com/office/drawing/2014/main" id="{667E40A0-9274-4A9B-B42F-7FAC496B1392}"/>
              </a:ext>
            </a:extLst>
          </p:cNvPr>
          <p:cNvSpPr>
            <a:spLocks xmlns:a="http://schemas.openxmlformats.org/drawingml/2006/main" noGrp="1"/>
          </p:cNvSpPr>
          <p:nvPr/>
        </p:nvSpPr>
        <p:spPr>
          <a:xfrm xmlns:a="http://schemas.openxmlformats.org/drawingml/2006/main">
            <a:off x="685800" y="54102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stStyle>
          <a:p xmlns:a="http://schemas.openxmlformats.org/drawingml/2006/main">
            <a:pPr algn="l">
              <a:defRPr sz="1875" b="0">
                <a:solidFill>
                  <a:srgbClr val="556570"/>
                </a:solidFill>
                <a:latin typeface="Arial"/>
                <a:ea typeface="Arial"/>
                <a:cs typeface="Arial"/>
              </a:defRPr>
            </a:pPr>
            <a:r>
              <a:rPr sz="1875" b="0">
                <a:solidFill>
                  <a:srgbClr val="556570"/>
                </a:solidFill>
                <a:latin typeface="Arial"/>
                <a:ea typeface="Arial"/>
                <a:cs typeface="Arial"/>
              </a:rPr>
              <a:t>Evidence focuses on 0.5 ms links.</a:t>
            </a:r>
          </a:p>
          <a:p xmlns:a="http://schemas.openxmlformats.org/drawingml/2006/main">
            <a:pPr algn="l">
              <a:defRPr sz="1875" b="0">
                <a:solidFill>
                  <a:srgbClr val="556570"/>
                </a:solidFill>
                <a:latin typeface="Arial"/>
                <a:ea typeface="Arial"/>
                <a:cs typeface="Arial"/>
              </a:defRPr>
            </a:pPr>
            <a:r>
              <a:rPr sz="1875" b="0">
                <a:solidFill>
                  <a:srgbClr val="556570"/>
                </a:solidFill>
                <a:latin typeface="Arial"/>
                <a:ea typeface="Arial"/>
                <a:cs typeface="Arial"/>
              </a:rPr>
              <a:t>At 5 and 20 ms, the fixed 10 ms heartbeat limits stable operation.</a:t>
            </a:r>
          </a:p>
        </p:txBody>
      </p:sp>
    </p:spTree>
    <p:extLst>
      <p:ext uri="{BB962C8B-B14F-4D97-AF65-F5344CB8AC3E}">
        <p14:creationId xmlns:p14="http://schemas.microsoft.com/office/powerpoint/2010/main" val="1912386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3849918A-0B14-4619-96A5-DBD581E094D8}"/>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stStyle>
          <a:p xmlns:a="http://schemas.openxmlformats.org/drawingml/2006/main">
            <a:pPr algn="l">
              <a:defRPr sz="3300" b="1">
                <a:solidFill>
                  <a:srgbClr val="173247"/>
                </a:solidFill>
                <a:latin typeface="Arial"/>
                <a:ea typeface="Arial"/>
                <a:cs typeface="Arial"/>
              </a:defRPr>
            </a:pPr>
            <a:r>
              <a:rPr sz="3300" b="1">
                <a:solidFill>
                  <a:srgbClr val="173247"/>
                </a:solidFill>
                <a:latin typeface="Arial"/>
                <a:ea typeface="Arial"/>
                <a:cs typeface="Arial"/>
              </a:rPr>
              <a:t>Future work</a:t>
            </a:r>
          </a:p>
        </p:txBody>
      </p:sp>
      <p:sp>
        <p:nvSpPr>
          <p:cNvPr id="2" name="slide-number">
            <a:extLst xmlns:a="http://schemas.openxmlformats.org/drawingml/2006/main">
              <a:ext uri="{FF2B5EF4-FFF2-40B4-BE49-F238E27FC236}">
                <a16:creationId xmlns:a16="http://schemas.microsoft.com/office/drawing/2014/main" id="{B366DDCC-FBD1-467A-8820-47B9F48F2411}"/>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9 / 10</a:t>
            </a:r>
          </a:p>
        </p:txBody>
      </p:sp>
      <p:sp>
        <p:nvSpPr>
          <p:cNvPr id="3" name="01  Timeouts matched to path delay">
            <a:extLst xmlns:a="http://schemas.openxmlformats.org/drawingml/2006/main">
              <a:ext uri="{FF2B5EF4-FFF2-40B4-BE49-F238E27FC236}">
                <a16:creationId xmlns:a16="http://schemas.microsoft.com/office/drawing/2014/main" id="{F9EEDED2-954F-4DA9-96A7-0CCA85CD69F6}"/>
              </a:ext>
            </a:extLst>
          </p:cNvPr>
          <p:cNvSpPr>
            <a:spLocks xmlns:a="http://schemas.openxmlformats.org/drawingml/2006/main" noGrp="1"/>
          </p:cNvSpPr>
          <p:nvPr/>
        </p:nvSpPr>
        <p:spPr>
          <a:xfrm xmlns:a="http://schemas.openxmlformats.org/drawingml/2006/main">
            <a:off x="685800" y="180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01  Timeouts matched to path delay</a:t>
            </a:r>
          </a:p>
        </p:txBody>
      </p:sp>
      <p:sp>
        <p:nvSpPr>
          <p:cNvPr id="4" name="Repeat higher-delay trials with suitable or a">
            <a:extLst xmlns:a="http://schemas.openxmlformats.org/drawingml/2006/main">
              <a:ext uri="{FF2B5EF4-FFF2-40B4-BE49-F238E27FC236}">
                <a16:creationId xmlns:a16="http://schemas.microsoft.com/office/drawing/2014/main" id="{CC0E8D56-F91F-450A-BB0D-CE39A1C7F967}"/>
              </a:ext>
            </a:extLst>
          </p:cNvPr>
          <p:cNvSpPr>
            <a:spLocks xmlns:a="http://schemas.openxmlformats.org/drawingml/2006/main" noGrp="1"/>
          </p:cNvSpPr>
          <p:nvPr/>
        </p:nvSpPr>
        <p:spPr>
          <a:xfrm xmlns:a="http://schemas.openxmlformats.org/drawingml/2006/main">
            <a:off x="685800" y="23241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Repeat higher-delay trials with suitable or adaptive timeouts.</a:t>
            </a:r>
          </a:p>
        </p:txBody>
      </p:sp>
      <p:sp>
        <p:nvSpPr>
          <p:cNvPr id="5" name="02  PreVote comparison">
            <a:extLst xmlns:a="http://schemas.openxmlformats.org/drawingml/2006/main">
              <a:ext uri="{FF2B5EF4-FFF2-40B4-BE49-F238E27FC236}">
                <a16:creationId xmlns:a16="http://schemas.microsoft.com/office/drawing/2014/main" id="{61C2DC75-9CC6-40DA-93AB-C78C6228B122}"/>
              </a:ext>
            </a:extLst>
          </p:cNvPr>
          <p:cNvSpPr>
            <a:spLocks xmlns:a="http://schemas.openxmlformats.org/drawingml/2006/main" noGrp="1"/>
          </p:cNvSpPr>
          <p:nvPr/>
        </p:nvSpPr>
        <p:spPr>
          <a:xfrm xmlns:a="http://schemas.openxmlformats.org/drawingml/2006/main">
            <a:off x="685800" y="3295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02  PreVote comparison</a:t>
            </a:r>
          </a:p>
        </p:txBody>
      </p:sp>
      <p:sp>
        <p:nvSpPr>
          <p:cNvPr id="6" name="Compare routing with PreVote enabled and disa">
            <a:extLst xmlns:a="http://schemas.openxmlformats.org/drawingml/2006/main">
              <a:ext uri="{FF2B5EF4-FFF2-40B4-BE49-F238E27FC236}">
                <a16:creationId xmlns:a16="http://schemas.microsoft.com/office/drawing/2014/main" id="{98BBCF5D-02FB-4F85-BEA6-F0313D7AECB7}"/>
              </a:ext>
            </a:extLst>
          </p:cNvPr>
          <p:cNvSpPr>
            <a:spLocks xmlns:a="http://schemas.openxmlformats.org/drawingml/2006/main" noGrp="1"/>
          </p:cNvSpPr>
          <p:nvPr/>
        </p:nvSpPr>
        <p:spPr>
          <a:xfrm xmlns:a="http://schemas.openxmlformats.org/drawingml/2006/main">
            <a:off x="685800" y="38100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Compare routing with PreVote enabled and disabled.</a:t>
            </a:r>
          </a:p>
        </p:txBody>
      </p:sp>
      <p:sp>
        <p:nvSpPr>
          <p:cNvPr id="7" name="03  Deployment across machines and regions">
            <a:extLst xmlns:a="http://schemas.openxmlformats.org/drawingml/2006/main">
              <a:ext uri="{FF2B5EF4-FFF2-40B4-BE49-F238E27FC236}">
                <a16:creationId xmlns:a16="http://schemas.microsoft.com/office/drawing/2014/main" id="{FC5639B4-33F8-40BE-B901-E1144FF3BFB2}"/>
              </a:ext>
            </a:extLst>
          </p:cNvPr>
          <p:cNvSpPr>
            <a:spLocks xmlns:a="http://schemas.openxmlformats.org/drawingml/2006/main" noGrp="1"/>
          </p:cNvSpPr>
          <p:nvPr/>
        </p:nvSpPr>
        <p:spPr>
          <a:xfrm xmlns:a="http://schemas.openxmlformats.org/drawingml/2006/main">
            <a:off x="685800" y="47815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stStyle>
          <a:p xmlns:a="http://schemas.openxmlformats.org/drawingml/2006/main">
            <a:pPr algn="l">
              <a:defRPr sz="2100" b="1">
                <a:solidFill>
                  <a:srgbClr val="007E87"/>
                </a:solidFill>
                <a:latin typeface="Arial"/>
                <a:ea typeface="Arial"/>
                <a:cs typeface="Arial"/>
              </a:defRPr>
            </a:pPr>
            <a:r>
              <a:rPr sz="2100" b="1">
                <a:solidFill>
                  <a:srgbClr val="007E87"/>
                </a:solidFill>
                <a:latin typeface="Arial"/>
                <a:ea typeface="Arial"/>
                <a:cs typeface="Arial"/>
              </a:rPr>
              <a:t>03  Deployment across machines and regions</a:t>
            </a:r>
          </a:p>
        </p:txBody>
      </p:sp>
      <p:sp>
        <p:nvSpPr>
          <p:cNvPr id="8" name="Test variable delays in a more realistic netw">
            <a:extLst xmlns:a="http://schemas.openxmlformats.org/drawingml/2006/main">
              <a:ext uri="{FF2B5EF4-FFF2-40B4-BE49-F238E27FC236}">
                <a16:creationId xmlns:a16="http://schemas.microsoft.com/office/drawing/2014/main" id="{6ED4BFF8-6318-4AD4-A898-5BE08AA82524}"/>
              </a:ext>
            </a:extLst>
          </p:cNvPr>
          <p:cNvSpPr>
            <a:spLocks xmlns:a="http://schemas.openxmlformats.org/drawingml/2006/main" noGrp="1"/>
          </p:cNvSpPr>
          <p:nvPr/>
        </p:nvSpPr>
        <p:spPr>
          <a:xfrm xmlns:a="http://schemas.openxmlformats.org/drawingml/2006/main">
            <a:off x="685800" y="52959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stStyle>
          <a:p xmlns:a="http://schemas.openxmlformats.org/drawingml/2006/main">
            <a:pPr algn="l">
              <a:defRPr sz="2100" b="0">
                <a:solidFill>
                  <a:srgbClr val="173247"/>
                </a:solidFill>
                <a:latin typeface="Arial"/>
                <a:ea typeface="Arial"/>
                <a:cs typeface="Arial"/>
              </a:defRPr>
            </a:pPr>
            <a:r>
              <a:rPr sz="2100" b="0">
                <a:solidFill>
                  <a:srgbClr val="173247"/>
                </a:solidFill>
                <a:latin typeface="Arial"/>
                <a:ea typeface="Arial"/>
                <a:cs typeface="Arial"/>
              </a:rPr>
              <a:t>Test variable delays in a more realistic network.</a:t>
            </a:r>
          </a:p>
        </p:txBody>
      </p:sp>
    </p:spTree>
    <p:extLst>
      <p:ext uri="{BB962C8B-B14F-4D97-AF65-F5344CB8AC3E}">
        <p14:creationId xmlns:p14="http://schemas.microsoft.com/office/powerpoint/2010/main" val="536076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number">
            <a:extLst xmlns:a="http://schemas.openxmlformats.org/drawingml/2006/main">
              <a:ext uri="{FF2B5EF4-FFF2-40B4-BE49-F238E27FC236}">
                <a16:creationId xmlns:a16="http://schemas.microsoft.com/office/drawing/2014/main" id="{D0145743-FB2F-4D9D-AD31-E271DCE8ABD8}"/>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stStyle>
          <a:p xmlns:a="http://schemas.openxmlformats.org/drawingml/2006/main">
            <a:pPr algn="r">
              <a:defRPr sz="1500" b="0">
                <a:solidFill>
                  <a:srgbClr val="556570"/>
                </a:solidFill>
                <a:latin typeface="Arial"/>
                <a:ea typeface="Arial"/>
                <a:cs typeface="Arial"/>
              </a:defRPr>
            </a:pPr>
            <a:r>
              <a:rPr sz="1500" b="0">
                <a:solidFill>
                  <a:srgbClr val="556570"/>
                </a:solidFill>
                <a:latin typeface="Arial"/>
                <a:ea typeface="Arial"/>
                <a:cs typeface="Arial"/>
              </a:rPr>
              <a:t>10 / 10</a:t>
            </a:r>
          </a:p>
        </p:txBody>
      </p:sp>
      <p:sp>
        <p:nvSpPr>
          <p:cNvPr id="2" name="Questions">
            <a:extLst xmlns:a="http://schemas.openxmlformats.org/drawingml/2006/main">
              <a:ext uri="{FF2B5EF4-FFF2-40B4-BE49-F238E27FC236}">
                <a16:creationId xmlns:a16="http://schemas.microsoft.com/office/drawing/2014/main" id="{665FFDCB-B30A-4083-B35E-A25B4AA0190A}"/>
              </a:ext>
            </a:extLst>
          </p:cNvPr>
          <p:cNvSpPr>
            <a:spLocks xmlns:a="http://schemas.openxmlformats.org/drawingml/2006/main" noGrp="1"/>
          </p:cNvSpPr>
          <p:nvPr/>
        </p:nvSpPr>
        <p:spPr>
          <a:xfrm xmlns:a="http://schemas.openxmlformats.org/drawingml/2006/main">
            <a:off x="685800" y="21907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173247"/>
                </a:solidFill>
                <a:latin typeface="Arial"/>
                <a:ea typeface="Arial"/>
                <a:cs typeface="Arial"/>
              </a:defRPr>
            </a:defPPr>
          </a:lstStyle>
          <a:p xmlns:a="http://schemas.openxmlformats.org/drawingml/2006/main">
            <a:pPr algn="l">
              <a:defRPr sz="5400" b="1">
                <a:solidFill>
                  <a:srgbClr val="173247"/>
                </a:solidFill>
                <a:latin typeface="Arial"/>
                <a:ea typeface="Arial"/>
                <a:cs typeface="Arial"/>
              </a:defRPr>
            </a:pPr>
            <a:r>
              <a:rPr sz="5400" b="1">
                <a:solidFill>
                  <a:srgbClr val="173247"/>
                </a:solidFill>
                <a:latin typeface="Arial"/>
                <a:ea typeface="Arial"/>
                <a:cs typeface="Arial"/>
              </a:rPr>
              <a:t>Questions</a:t>
            </a:r>
          </a:p>
        </p:txBody>
      </p:sp>
      <p:sp>
        <p:nvSpPr>
          <p:cNvPr id="3" name="Transparent routing for Raft under partial pa">
            <a:extLst xmlns:a="http://schemas.openxmlformats.org/drawingml/2006/main">
              <a:ext uri="{FF2B5EF4-FFF2-40B4-BE49-F238E27FC236}">
                <a16:creationId xmlns:a16="http://schemas.microsoft.com/office/drawing/2014/main" id="{D2ADDF4E-343C-4EEE-9117-9A8B14964BD8}"/>
              </a:ext>
            </a:extLst>
          </p:cNvPr>
          <p:cNvSpPr>
            <a:spLocks xmlns:a="http://schemas.openxmlformats.org/drawingml/2006/main" noGrp="1"/>
          </p:cNvSpPr>
          <p:nvPr/>
        </p:nvSpPr>
        <p:spPr>
          <a:xfrm xmlns:a="http://schemas.openxmlformats.org/drawingml/2006/main">
            <a:off x="685800" y="35242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007E87"/>
                </a:solidFill>
                <a:latin typeface="Arial"/>
                <a:ea typeface="Arial"/>
                <a:cs typeface="Arial"/>
              </a:defRPr>
            </a:defPPr>
          </a:lstStyle>
          <a:p xmlns:a="http://schemas.openxmlformats.org/drawingml/2006/main">
            <a:pPr algn="l">
              <a:defRPr sz="2400" b="0">
                <a:solidFill>
                  <a:srgbClr val="007E87"/>
                </a:solidFill>
                <a:latin typeface="Arial"/>
                <a:ea typeface="Arial"/>
                <a:cs typeface="Arial"/>
              </a:defRPr>
            </a:pPr>
            <a:r>
              <a:rPr sz="2400" b="0">
                <a:solidFill>
                  <a:srgbClr val="007E87"/>
                </a:solidFill>
                <a:latin typeface="Arial"/>
                <a:ea typeface="Arial"/>
                <a:cs typeface="Arial"/>
              </a:rPr>
              <a:t>Transparent routing for Raft under partial partitions</a:t>
            </a:r>
          </a:p>
        </p:txBody>
      </p:sp>
    </p:spTree>
    <p:extLst>
      <p:ext uri="{BB962C8B-B14F-4D97-AF65-F5344CB8AC3E}">
        <p14:creationId xmlns:p14="http://schemas.microsoft.com/office/powerpoint/2010/main" val="1206368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2026-10-08T13:25:58.3250000Z</dcterms:created>
  <dcterms:modified xsi:type="dcterms:W3CDTF">2026-10-08T13:25:58.3250000Z</dcterms:modified>
</coreProperties>
</file>