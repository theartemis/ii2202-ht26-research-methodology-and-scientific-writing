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af4ea93f61419d" /><Relationship Type="http://schemas.openxmlformats.org/officeDocument/2006/relationships/extended-properties" Target="/docProps/app.xml" Id="Rf0a22ce2c4e7454c" /><Relationship Type="http://schemas.openxmlformats.org/officeDocument/2006/relationships/officeDocument" Target="/ppt/presentation.xml" Id="Re6bee800e4354b5b" /></Relationships>
</file>

<file path=ppt/presentation.xml><?xml version="1.0" encoding="utf-8"?>
<p:presentation xmlns:p="http://schemas.openxmlformats.org/presentationml/2006/main">
  <p:sldMasterIdLst>
    <p:sldMasterId xmlns:r="http://schemas.openxmlformats.org/officeDocument/2006/relationships" id="2147483648" r:id="Rbd8809df415e4724"/>
  </p:sldMasterIdLst>
  <p:notesMasterIdLst>
    <p:notesMasterId xmlns:r="http://schemas.openxmlformats.org/officeDocument/2006/relationships" r:id="R0a0fbc109f824126"/>
  </p:notesMasterIdLst>
  <p:sldIdLst>
    <p:sldId xmlns:r="http://schemas.openxmlformats.org/officeDocument/2006/relationships" id="256" r:id="R8c53290ce7054e95"/>
    <p:sldId xmlns:r="http://schemas.openxmlformats.org/officeDocument/2006/relationships" id="257" r:id="R85d4f9498e6d47eb"/>
    <p:sldId xmlns:r="http://schemas.openxmlformats.org/officeDocument/2006/relationships" id="258" r:id="Ref7f746c15804a3f"/>
    <p:sldId xmlns:r="http://schemas.openxmlformats.org/officeDocument/2006/relationships" id="259" r:id="R756316b4548144a4"/>
    <p:sldId xmlns:r="http://schemas.openxmlformats.org/officeDocument/2006/relationships" id="260" r:id="Rbccdbb3fc15e46ad"/>
    <p:sldId xmlns:r="http://schemas.openxmlformats.org/officeDocument/2006/relationships" id="261" r:id="Rf29b93d48113473f"/>
    <p:sldId xmlns:r="http://schemas.openxmlformats.org/officeDocument/2006/relationships" id="262" r:id="R70d10ae8a7fe4f39"/>
    <p:sldId xmlns:r="http://schemas.openxmlformats.org/officeDocument/2006/relationships" id="263" r:id="R282fdfdac4114364"/>
    <p:sldId xmlns:r="http://schemas.openxmlformats.org/officeDocument/2006/relationships" id="264" r:id="R6d865a7da86747e9"/>
    <p:sldId xmlns:r="http://schemas.openxmlformats.org/officeDocument/2006/relationships" id="265" r:id="R68bba4cf914944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69270fcaa9449d" /><Relationship Type="http://schemas.openxmlformats.org/officeDocument/2006/relationships/slideMaster" Target="/ppt/slideMasters/slideMaster1.xml" Id="Rbd8809df415e4724" /><Relationship Type="http://schemas.openxmlformats.org/officeDocument/2006/relationships/notesMaster" Target="/ppt/notesMasters/notesMaster1.xml" Id="R0a0fbc109f824126" /><Relationship Type="http://schemas.openxmlformats.org/officeDocument/2006/relationships/presProps" Target="/ppt/presProps.xml" Id="R34280b785a694a6c" /><Relationship Type="http://schemas.openxmlformats.org/officeDocument/2006/relationships/tableStyles" Target="/ppt/tableStyles.xml" Id="R22666303703c457d" /><Relationship Type="http://schemas.openxmlformats.org/officeDocument/2006/relationships/slide" Target="/ppt/slides/slide1.xml" Id="R8c53290ce7054e95" /><Relationship Type="http://schemas.openxmlformats.org/officeDocument/2006/relationships/slide" Target="/ppt/slides/slide2.xml" Id="R85d4f9498e6d47eb" /><Relationship Type="http://schemas.openxmlformats.org/officeDocument/2006/relationships/slide" Target="/ppt/slides/slide3.xml" Id="Ref7f746c15804a3f" /><Relationship Type="http://schemas.openxmlformats.org/officeDocument/2006/relationships/slide" Target="/ppt/slides/slide4.xml" Id="R756316b4548144a4" /><Relationship Type="http://schemas.openxmlformats.org/officeDocument/2006/relationships/slide" Target="/ppt/slides/slide5.xml" Id="Rbccdbb3fc15e46ad" /><Relationship Type="http://schemas.openxmlformats.org/officeDocument/2006/relationships/slide" Target="/ppt/slides/slide6.xml" Id="Rf29b93d48113473f" /><Relationship Type="http://schemas.openxmlformats.org/officeDocument/2006/relationships/slide" Target="/ppt/slides/slide7.xml" Id="R70d10ae8a7fe4f39" /><Relationship Type="http://schemas.openxmlformats.org/officeDocument/2006/relationships/slide" Target="/ppt/slides/slide8.xml" Id="R282fdfdac4114364" /><Relationship Type="http://schemas.openxmlformats.org/officeDocument/2006/relationships/slide" Target="/ppt/slides/slide9.xml" Id="R6d865a7da86747e9" /><Relationship Type="http://schemas.openxmlformats.org/officeDocument/2006/relationships/slide" Target="/ppt/slides/slide10.xml" Id="R68bba4cf914944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935723602c42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50b7d015af4032" /><Relationship Type="http://schemas.openxmlformats.org/officeDocument/2006/relationships/notesMaster" Target="/ppt/notesMasters/notesMaster1.xml" Id="Rfaf40e98b5e14f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96bd9de5ff4471" /><Relationship Type="http://schemas.openxmlformats.org/officeDocument/2006/relationships/notesMaster" Target="/ppt/notesMasters/notesMaster1.xml" Id="Rf4d7b461964848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1e764f67c34f33" /><Relationship Type="http://schemas.openxmlformats.org/officeDocument/2006/relationships/notesMaster" Target="/ppt/notesMasters/notesMaster1.xml" Id="R6e53d4a618d940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625aaa11cf4d54" /><Relationship Type="http://schemas.openxmlformats.org/officeDocument/2006/relationships/notesMaster" Target="/ppt/notesMasters/notesMaster1.xml" Id="R05aab72e0c6345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abe82eba0941ed" /><Relationship Type="http://schemas.openxmlformats.org/officeDocument/2006/relationships/notesMaster" Target="/ppt/notesMasters/notesMaster1.xml" Id="Rb00dae8bd5dc46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722936dcc54a37" /><Relationship Type="http://schemas.openxmlformats.org/officeDocument/2006/relationships/notesMaster" Target="/ppt/notesMasters/notesMaster1.xml" Id="Rc64518e9517944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0c173d09a84bc9" /><Relationship Type="http://schemas.openxmlformats.org/officeDocument/2006/relationships/notesMaster" Target="/ppt/notesMasters/notesMaster1.xml" Id="R3abca886fd0f4b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fb7a3f41484655" /><Relationship Type="http://schemas.openxmlformats.org/officeDocument/2006/relationships/notesMaster" Target="/ppt/notesMasters/notesMaster1.xml" Id="R546ea2a0206946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4a2d1abe5647a9" /><Relationship Type="http://schemas.openxmlformats.org/officeDocument/2006/relationships/notesMaster" Target="/ppt/notesMasters/notesMaster1.xml" Id="R30db0bd6a4084f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650293e00946b6" /><Relationship Type="http://schemas.openxmlformats.org/officeDocument/2006/relationships/notesMaster" Target="/ppt/notesMasters/notesMaster1.xml" Id="Rca3c8a188b4244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0:25 | Elapsed 0:00–0:25</a:t>
            </a:r>
          </a:p>
          <a:p xmlns:a="http://schemas.openxmlformats.org/drawingml/2006/main">
            <a:r>
              <a:t/>
            </a:r>
          </a:p>
          <a:p xmlns:a="http://schemas.openxmlformats.org/drawingml/2006/main">
            <a:r>
              <a:t>Hi everyone. I'm Lorenzo, and this is Juozas.</a:t>
            </a:r>
          </a:p>
          <a:p xmlns:a="http://schemas.openxmlformats.org/drawingml/2006/main">
            <a:r>
              <a:t/>
            </a:r>
          </a:p>
          <a:p xmlns:a="http://schemas.openxmlformats.org/drawingml/2006/main">
            <a:r>
              <a:t>Today we’ll present our study of Raft under partial network partitions, and show how forwarding messages through intermediate nodes can restore progress and how that affects commit latency.</a:t>
            </a:r>
          </a:p>
          <a:p xmlns:a="http://schemas.openxmlformats.org/drawingml/2006/main">
            <a:r>
              <a:t/>
            </a:r>
          </a:p>
          <a:p xmlns:a="http://schemas.openxmlformats.org/drawingml/2006/main">
            <a:r>
              <a:t>I'll explain the problem and our experiment. Then Juozas will present the results and conclusions.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1:05 | Elapsed 0:25–1:30</a:t>
            </a:r>
          </a:p>
          <a:p xmlns:a="http://schemas.openxmlformats.org/drawingml/2006/main">
            <a:r>
              <a:t/>
            </a:r>
          </a:p>
          <a:p xmlns:a="http://schemas.openxmlformats.org/drawingml/2006/main">
            <a:r>
              <a:t>Raft is a leader-based consensus protocol that lets a cluster of replicas agree on a shared ordered log.</a:t>
            </a:r>
          </a:p>
          <a:p xmlns:a="http://schemas.openxmlformats.org/drawingml/2006/main">
            <a:r>
              <a:t/>
            </a:r>
          </a:p>
          <a:p xmlns:a="http://schemas.openxmlformats.org/drawingml/2006/main">
            <a:r>
              <a:t>We study partial network partitions, where some direct links fail but nodes remain connected through peers.</a:t>
            </a:r>
          </a:p>
          <a:p xmlns:a="http://schemas.openxmlformats.org/drawingml/2006/main">
            <a:r>
              <a:t/>
            </a:r>
          </a:p>
          <a:p xmlns:a="http://schemas.openxmlformats.org/drawingml/2006/main">
            <a:r>
              <a:t>Raft's normal communication does not forward messages. Under a partial partition, the system can struggle to commit even though an alternative path exists through other peers.</a:t>
            </a:r>
          </a:p>
          <a:p xmlns:a="http://schemas.openxmlformats.org/drawingml/2006/main">
            <a:r>
              <a:t/>
            </a:r>
          </a:p>
          <a:p xmlns:a="http://schemas.openxmlformats.org/drawingml/2006/main">
            <a:r>
              <a:t>Our idea is to enable forwarding through connected nodes without touching the Raft implementation.</a:t>
            </a:r>
          </a:p>
          <a:p xmlns:a="http://schemas.openxmlformats.org/drawingml/2006/main">
            <a:r>
              <a:t/>
            </a:r>
          </a:p>
          <a:p xmlns:a="http://schemas.openxmlformats.org/drawingml/2006/main">
            <a:r>
              <a:t>We ask two questions: when does forwarding restore progress, and how much extra time does a client wait for a commit?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0:35 | Elapsed 1:30–2:05</a:t>
            </a:r>
          </a:p>
          <a:p xmlns:a="http://schemas.openxmlformats.org/drawingml/2006/main">
            <a:r>
              <a:t/>
            </a:r>
          </a:p>
          <a:p xmlns:a="http://schemas.openxmlformats.org/drawingml/2006/main">
            <a:r>
              <a:t>Let's look at previous work and where we fit in.</a:t>
            </a:r>
          </a:p>
          <a:p xmlns:a="http://schemas.openxmlformats.org/drawingml/2006/main">
            <a:r>
              <a:t/>
            </a:r>
          </a:p>
          <a:p xmlns:a="http://schemas.openxmlformats.org/drawingml/2006/main">
            <a:r>
              <a:t>Jensen and colleagues suggested the use of an overlay network to help Raft under partial partitions as an alternative to PreVote.</a:t>
            </a:r>
          </a:p>
          <a:p xmlns:a="http://schemas.openxmlformats.org/drawingml/2006/main">
            <a:r>
              <a:t/>
            </a:r>
          </a:p>
          <a:p xmlns:a="http://schemas.openxmlformats.org/drawingml/2006/main">
            <a:r>
              <a:t>Nifty showed that transparent rerouting could help systems like Kafka with low overhead.</a:t>
            </a:r>
          </a:p>
          <a:p xmlns:a="http://schemas.openxmlformats.org/drawingml/2006/main">
            <a:r>
              <a:t/>
            </a:r>
          </a:p>
          <a:p xmlns:a="http://schemas.openxmlformats.org/drawingml/2006/main">
            <a:r>
              <a:t>OmniPaxos takes another approach to partial connectivity by changing the consensus protocol and mentions overlay routing as a possible alternative.</a:t>
            </a:r>
          </a:p>
          <a:p xmlns:a="http://schemas.openxmlformats.org/drawingml/2006/main">
            <a:r>
              <a:t/>
            </a:r>
          </a:p>
          <a:p xmlns:a="http://schemas.openxmlformats.org/drawingml/2006/main">
            <a:r>
              <a:t>Our focus is to measure the benefits and the delay of forwarding beneath an unchanged Raft implementation.</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2:05–3:25</a:t>
            </a:r>
          </a:p>
          <a:p xmlns:a="http://schemas.openxmlformats.org/drawingml/2006/main">
            <a:r>
              <a:t/>
            </a:r>
          </a:p>
          <a:p xmlns:a="http://schemas.openxmlformats.org/drawingml/2006/main">
            <a:r>
              <a:t>We used HashiCorp Raft and Mininet, which lets us create virtual networks and control their connections and delays.</a:t>
            </a:r>
          </a:p>
          <a:p xmlns:a="http://schemas.openxmlformats.org/drawingml/2006/main">
            <a:r>
              <a:t/>
            </a:r>
          </a:p>
          <a:p xmlns:a="http://schemas.openxmlformats.org/drawingml/2006/main">
            <a:r>
              <a:t>We compared direct communication with forwarding across five network layouts.</a:t>
            </a:r>
          </a:p>
          <a:p xmlns:a="http://schemas.openxmlformats.org/drawingml/2006/main">
            <a:r>
              <a:t/>
            </a:r>
          </a:p>
          <a:p xmlns:a="http://schemas.openxmlformats.org/drawingml/2006/main">
            <a:r>
              <a:t>For each one, we tested delays of:</a:t>
            </a:r>
          </a:p>
          <a:p xmlns:a="http://schemas.openxmlformats.org/drawingml/2006/main">
            <a:r>
              <a:t/>
            </a:r>
          </a:p>
          <a:p xmlns:a="http://schemas.openxmlformats.org/drawingml/2006/main">
            <a:r>
              <a:t>- half a millisecond</a:t>
            </a:r>
          </a:p>
          <a:p xmlns:a="http://schemas.openxmlformats.org/drawingml/2006/main">
            <a:r>
              <a:t>- 5 milliseconds</a:t>
            </a:r>
          </a:p>
          <a:p xmlns:a="http://schemas.openxmlformats.org/drawingml/2006/main">
            <a:r>
              <a:t>- 20 milliseconds</a:t>
            </a:r>
          </a:p>
          <a:p xmlns:a="http://schemas.openxmlformats.org/drawingml/2006/main">
            <a:r>
              <a:t/>
            </a:r>
          </a:p>
          <a:p xmlns:a="http://schemas.openxmlformats.org/drawingml/2006/main">
            <a:r>
              <a:t>We repeated every combination 30 times, giving a total of 900 trials.</a:t>
            </a:r>
          </a:p>
          <a:p xmlns:a="http://schemas.openxmlformats.org/drawingml/2006/main">
            <a:r>
              <a:t/>
            </a:r>
          </a:p>
          <a:p xmlns:a="http://schemas.openxmlformats.org/drawingml/2006/main">
            <a:r>
              <a:t>For each trial, the client sends 100 requests per second. We keep the heartbeat timeout at 500 milliseconds.</a:t>
            </a:r>
          </a:p>
          <a:p xmlns:a="http://schemas.openxmlformats.org/drawingml/2006/main">
            <a:r>
              <a:t/>
            </a:r>
          </a:p>
          <a:p xmlns:a="http://schemas.openxmlformats.org/drawingml/2006/main">
            <a:r>
              <a:t>In each experiment, we wait 30 seconds for the cluster to warm up, then cut the selected links to form the desired network partition.</a:t>
            </a:r>
          </a:p>
          <a:p xmlns:a="http://schemas.openxmlformats.org/drawingml/2006/main">
            <a:r>
              <a:t/>
            </a:r>
          </a:p>
          <a:p xmlns:a="http://schemas.openxmlformats.org/drawingml/2006/main">
            <a:r>
              <a:t>Then we start an observation period that lasts 30 seconds.</a:t>
            </a:r>
          </a:p>
          <a:p xmlns:a="http://schemas.openxmlformats.org/drawingml/2006/main">
            <a:r>
              <a:t/>
            </a:r>
          </a:p>
          <a:p xmlns:a="http://schemas.openxmlformats.org/drawingml/2006/main">
            <a:r>
              <a:t>For T3 only, we skip the warm-up phase to test the configuration with different log histories.</a:t>
            </a:r>
          </a:p>
          <a:p xmlns:a="http://schemas.openxmlformats.org/drawingml/2006/main">
            <a:r>
              <a:t/>
            </a:r>
          </a:p>
          <a:p xmlns:a="http://schemas.openxmlformats.org/drawingml/2006/main">
            <a:r>
              <a:t>We ran these trials on 16 EC2 instances on AWS, and each trial had all the nodes and the client on a single machine.</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3:25–4:45</a:t>
            </a:r>
          </a:p>
          <a:p xmlns:a="http://schemas.openxmlformats.org/drawingml/2006/main">
            <a:r>
              <a:t/>
            </a:r>
          </a:p>
          <a:p xmlns:a="http://schemas.openxmlformats.org/drawingml/2006/main">
            <a:r>
              <a:t>[Cue: Move from T0 to T4 as you explain each configuration.]</a:t>
            </a:r>
          </a:p>
          <a:p xmlns:a="http://schemas.openxmlformats.org/drawingml/2006/main">
            <a:r>
              <a:t/>
            </a:r>
          </a:p>
          <a:p xmlns:a="http://schemas.openxmlformats.org/drawingml/2006/main">
            <a:r>
              <a:t>These are the five network configurations we tested.</a:t>
            </a:r>
          </a:p>
          <a:p xmlns:a="http://schemas.openxmlformats.org/drawingml/2006/main">
            <a:r>
              <a:t/>
            </a:r>
          </a:p>
          <a:p xmlns:a="http://schemas.openxmlformats.org/drawingml/2006/main">
            <a:r>
              <a:t>T0 is the healthy baseline: all five nodes are directly connected. We expect stable progress in both modes.</a:t>
            </a:r>
          </a:p>
          <a:p xmlns:a="http://schemas.openxmlformats.org/drawingml/2006/main">
            <a:r>
              <a:t/>
            </a:r>
          </a:p>
          <a:p xmlns:a="http://schemas.openxmlformats.org/drawingml/2006/main">
            <a:r>
              <a:t>T1 removes one link, but the leader still has a direct majority. We expect consensus to continue, so this is our control for a non-critical failure.</a:t>
            </a:r>
          </a:p>
          <a:p xmlns:a="http://schemas.openxmlformats.org/drawingml/2006/main">
            <a:r>
              <a:t/>
            </a:r>
          </a:p>
          <a:p xmlns:a="http://schemas.openxmlformats.org/drawingml/2006/main">
            <a:r>
              <a:t>T2 leaves the leader connected only to A. We expect forwarding through A to restore its access to a majority.</a:t>
            </a:r>
          </a:p>
          <a:p xmlns:a="http://schemas.openxmlformats.org/drawingml/2006/main">
            <a:r>
              <a:t/>
            </a:r>
          </a:p>
          <a:p xmlns:a="http://schemas.openxmlformats.org/drawingml/2006/main">
            <a:r>
              <a:t>In T3, C is isolated, and we skip the warm-up phase to preserve different log histories. A has an older log, so even though it can reach a majority of nodes, it cannot win enough votes to become leader. We expect forwarding to let another eligible candidate reach that majority.</a:t>
            </a:r>
          </a:p>
          <a:p xmlns:a="http://schemas.openxmlformats.org/drawingml/2006/main">
            <a:r>
              <a:t/>
            </a:r>
          </a:p>
          <a:p xmlns:a="http://schemas.openxmlformats.org/drawingml/2006/main">
            <a:r>
              <a:t>T4 is a three-node chain. B and C cannot talk directly, but both connect to A. A direct majority can still exist. We expect forwarding to reduce disruption between the endpoints.</a:t>
            </a:r>
          </a:p>
          <a:p xmlns:a="http://schemas.openxmlformats.org/drawingml/2006/main">
            <a:r>
              <a:t/>
            </a:r>
          </a:p>
          <a:p xmlns:a="http://schemas.openxmlformats.org/drawingml/2006/main">
            <a:r>
              <a:t>We measure successful client requests in every topology. In T1 and T4, we need to distinguish a client that cannot reach the leader from a cluster that cannot make progress.</a:t>
            </a:r>
          </a:p>
          <a:p xmlns:a="http://schemas.openxmlformats.org/drawingml/2006/main">
            <a:r>
              <a:t/>
            </a:r>
          </a:p>
          <a:p xmlns:a="http://schemas.openxmlformats.org/drawingml/2006/main">
            <a:r>
              <a:t>I'll hand over to Juozas to show what actually happened.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1:55 | Elapsed 4:45–6:40</a:t>
            </a:r>
          </a:p>
          <a:p xmlns:a="http://schemas.openxmlformats.org/drawingml/2006/main">
            <a:r>
              <a:t/>
            </a:r>
          </a:p>
          <a:p xmlns:a="http://schemas.openxmlformats.org/drawingml/2006/main">
            <a:r>
              <a:t>Thanks, Lorenzo.</a:t>
            </a:r>
          </a:p>
          <a:p xmlns:a="http://schemas.openxmlformats.org/drawingml/2006/main">
            <a:r>
              <a:t/>
            </a:r>
          </a:p>
          <a:p xmlns:a="http://schemas.openxmlformats.org/drawingml/2006/main">
            <a:r>
              <a:t>[Cue: Point to the three charts. Grey means direct communication, and teal means forwarding.]</a:t>
            </a:r>
          </a:p>
          <a:p xmlns:a="http://schemas.openxmlformats.org/drawingml/2006/main">
            <a:r>
              <a:t/>
            </a:r>
          </a:p>
          <a:p xmlns:a="http://schemas.openxmlformats.org/drawingml/2006/main">
            <a:r>
              <a:t>Each chart shows a different link delay. The bars show successful client commits per second, averaged across thirty runs.</a:t>
            </a:r>
          </a:p>
          <a:p xmlns:a="http://schemas.openxmlformats.org/drawingml/2006/main">
            <a:r>
              <a:t/>
            </a:r>
          </a:p>
          <a:p xmlns:a="http://schemas.openxmlformats.org/drawingml/2006/main">
            <a:r>
              <a:t>We also defined a simple stable-progress check. It requires successful commits and a recorded recovery, while limiting the number of election events. All four hundred and fifty forwarding trials passed it, compared with three hundred and nine direct trials. This check describes progress during our observation period.</a:t>
            </a:r>
          </a:p>
          <a:p xmlns:a="http://schemas.openxmlformats.org/drawingml/2006/main">
            <a:r>
              <a:t/>
            </a:r>
          </a:p>
          <a:p xmlns:a="http://schemas.openxmlformats.org/drawingml/2006/main">
            <a:r>
              <a:t>T2 shows a clear throughput improvement. At the lowest delay, forwarding increased the average from about sixty-three to ninety-seven commits per second. Across the three delays, the improvement ranged from fifty-three to eighty-three percent.</a:t>
            </a:r>
          </a:p>
          <a:p xmlns:a="http://schemas.openxmlformats.org/drawingml/2006/main">
            <a:r>
              <a:t/>
            </a:r>
          </a:p>
          <a:p xmlns:a="http://schemas.openxmlformats.org/drawingml/2006/main">
            <a:r>
              <a:t>T3 gives the clearest contrast. Forwarding produced commits in all ninety trials. Direct communication produced none.</a:t>
            </a:r>
          </a:p>
          <a:p xmlns:a="http://schemas.openxmlformats.org/drawingml/2006/main">
            <a:r>
              <a:t/>
            </a:r>
          </a:p>
          <a:p xmlns:a="http://schemas.openxmlformats.org/drawingml/2006/main">
            <a:r>
              <a:t>The T3 forwarding bars are lower because the measurement includes restart and setup before the client starts. Once the client was running, throughput was close to one hundred commits per second. The roughly twenty to twenty-two seconds before the first commit include that setup, so we cannot treat it as election time alone.</a:t>
            </a:r>
          </a:p>
          <a:p xmlns:a="http://schemas.openxmlformats.org/drawingml/2006/main">
            <a:r>
              <a:t/>
            </a:r>
          </a:p>
          <a:p xmlns:a="http://schemas.openxmlformats.org/drawingml/2006/main">
            <a:r>
              <a:t>For T1 and T4, forwarding also helped clients reach leaders that still had a majority. That is an availability benefit, but those cases alone do not show that consensus had stopped.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1:20 | Elapsed 6:40–8:00</a:t>
            </a:r>
          </a:p>
          <a:p xmlns:a="http://schemas.openxmlformats.org/drawingml/2006/main">
            <a:r>
              <a:t/>
            </a:r>
          </a:p>
          <a:p xmlns:a="http://schemas.openxmlformats.org/drawingml/2006/main">
            <a:r>
              <a:t>Forwarding helped progress, but it also added delay.</a:t>
            </a:r>
          </a:p>
          <a:p xmlns:a="http://schemas.openxmlformats.org/drawingml/2006/main">
            <a:r>
              <a:t/>
            </a:r>
          </a:p>
          <a:p xmlns:a="http://schemas.openxmlformats.org/drawingml/2006/main">
            <a:r>
              <a:t>Here, latency means how long the client waits for a successful commit. We took the median in each run, then averaged those medians. The charts use different vertical scales, so compare the two bars within each chart.</a:t>
            </a:r>
          </a:p>
          <a:p xmlns:a="http://schemas.openxmlformats.org/drawingml/2006/main">
            <a:r>
              <a:t/>
            </a:r>
          </a:p>
          <a:p xmlns:a="http://schemas.openxmlformats.org/drawingml/2006/main">
            <a:r>
              <a:t>In the healthy network, T0, the difference between direct communication and forwarding was small.</a:t>
            </a:r>
          </a:p>
          <a:p xmlns:a="http://schemas.openxmlformats.org/drawingml/2006/main">
            <a:r>
              <a:t/>
            </a:r>
          </a:p>
          <a:p xmlns:a="http://schemas.openxmlformats.org/drawingml/2006/main">
            <a:r>
              <a:t>T2 shows a larger cost because the leader needs forwarded paths to reach its majority. At the lowest link delay, latency rose from about two point four to four point one milliseconds. At the highest delay, it rose from about ninety-nine to one hundred and sixty-six milliseconds.</a:t>
            </a:r>
          </a:p>
          <a:p xmlns:a="http://schemas.openxmlformats.org/drawingml/2006/main">
            <a:r>
              <a:t/>
            </a:r>
          </a:p>
          <a:p xmlns:a="http://schemas.openxmlformats.org/drawingml/2006/main">
            <a:r>
              <a:t>These numbers describe successful requests. Direct T3 has no latency value because no requests succeeded. Direct T1 and T4 also exclude runs with no successful requests.</a:t>
            </a:r>
          </a:p>
          <a:p xmlns:a="http://schemas.openxmlformats.org/drawingml/2006/main">
            <a:r>
              <a:t/>
            </a:r>
          </a:p>
          <a:p xmlns:a="http://schemas.openxmlformats.org/drawingml/2006/main">
            <a:r>
              <a:t>So we need to read latency together with throughput and failures. A quick response among successful requests tells only part of the story when other requests cannot complete.</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0:55 | Elapsed 8:00–8:55</a:t>
            </a:r>
          </a:p>
          <a:p xmlns:a="http://schemas.openxmlformats.org/drawingml/2006/main">
            <a:r>
              <a:t/>
            </a:r>
          </a:p>
          <a:p xmlns:a="http://schemas.openxmlformats.org/drawingml/2006/main">
            <a:r>
              <a:t>Our main finding is that forwarding improved progress in the partial partitions we tested. It restored commits in T3 and increased throughput in T2 across all three delays.</a:t>
            </a:r>
          </a:p>
          <a:p xmlns:a="http://schemas.openxmlformats.org/drawingml/2006/main">
            <a:r>
              <a:t/>
            </a:r>
          </a:p>
          <a:p xmlns:a="http://schemas.openxmlformats.org/drawingml/2006/main">
            <a:r>
              <a:t>The cost was higher commit latency when reaching a majority required extra hops.</a:t>
            </a:r>
          </a:p>
          <a:p xmlns:a="http://schemas.openxmlformats.org/drawingml/2006/main">
            <a:r>
              <a:t/>
            </a:r>
          </a:p>
          <a:p xmlns:a="http://schemas.openxmlformats.org/drawingml/2006/main">
            <a:r>
              <a:t>There are limits to that conclusion. Our trials used one Raft implementation, one workload, and one heartbeat timeout, with each cluster on a single machine.</a:t>
            </a:r>
          </a:p>
          <a:p xmlns:a="http://schemas.openxmlformats.org/drawingml/2006/main">
            <a:r>
              <a:t/>
            </a:r>
          </a:p>
          <a:p xmlns:a="http://schemas.openxmlformats.org/drawingml/2006/main">
            <a:r>
              <a:t>We also need to separate client access from consensus progress, as we saw in T1 and T4, and separate setup from recovery time in T3.</a:t>
            </a:r>
          </a:p>
          <a:p xmlns:a="http://schemas.openxmlformats.org/drawingml/2006/main">
            <a:r>
              <a:t/>
            </a:r>
          </a:p>
          <a:p xmlns:a="http://schemas.openxmlformats.org/drawingml/2006/main">
            <a:r>
              <a:t>The results support forwarding as a useful option for these conditions. Testing in other environments would tell us how far that benefit carries over.</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0:30 | Elapsed 8:55–9:25</a:t>
            </a:r>
          </a:p>
          <a:p xmlns:a="http://schemas.openxmlformats.org/drawingml/2006/main">
            <a:r>
              <a:t/>
            </a:r>
          </a:p>
          <a:p xmlns:a="http://schemas.openxmlformats.org/drawingml/2006/main">
            <a:r>
              <a:t>Our next step would be to control where the client runs and measure recovery separately from setup.</a:t>
            </a:r>
          </a:p>
          <a:p xmlns:a="http://schemas.openxmlformats.org/drawingml/2006/main">
            <a:r>
              <a:t/>
            </a:r>
          </a:p>
          <a:p xmlns:a="http://schemas.openxmlformats.org/drawingml/2006/main">
            <a:r>
              <a:t>We would also vary the heartbeat timeout to see how it interacts with network delay.</a:t>
            </a:r>
          </a:p>
          <a:p xmlns:a="http://schemas.openxmlformats.org/drawingml/2006/main">
            <a:r>
              <a:t/>
            </a:r>
          </a:p>
          <a:p xmlns:a="http://schemas.openxmlformats.org/drawingml/2006/main">
            <a:r>
              <a:t>Finally, we would place replicas on separate machines or in different regions, where delays change over time. That would bring the experiment closer to a real deployment.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0:05 | Elapsed 9:25–9:30</a:t>
            </a:r>
          </a:p>
          <a:p xmlns:a="http://schemas.openxmlformats.org/drawingml/2006/main">
            <a:r>
              <a:t/>
            </a:r>
          </a:p>
          <a:p xmlns:a="http://schemas.openxmlformats.org/drawingml/2006/main">
            <a:r>
              <a:t>Thank you for listening. We're ready for the opposition and your questions.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849ccf5a01443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18ab193790441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d9f8f9c0ec4e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23c12aaabac4c9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f1da0d291f469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8c2579369948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8B9716-40C4-479E-9E94-1F806EFB69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FFC455-4650-456A-880E-3DA674C327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9B9A61D-42EE-47B1-9693-B8CD3E4A5E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8B463-BD5D-4770-9CED-C43FB54641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A45D39-80AE-48BC-9C9F-3C6F624848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722DEB-243C-4007-92D4-31746E3B5E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AC9C5C-3568-41A9-B6A0-EACBAFA56E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D75A5F-F894-4650-9C36-3767070D936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0E9ECF-9003-4F9F-ACAD-14CFEB8E4E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DB4ED6-6006-4ABE-A9FE-AD9438FB92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0c4277d7df43de" /><Relationship Type="http://schemas.openxmlformats.org/officeDocument/2006/relationships/slideLayout" Target="/ppt/slideLayouts/slideLayout1.xml" Id="Reb62f2042da64761" /><Relationship Type="http://schemas.openxmlformats.org/officeDocument/2006/relationships/slideLayout" Target="/ppt/slideLayouts/slideLayout2.xml" Id="R8162213ef11f4c9e" /><Relationship Type="http://schemas.openxmlformats.org/officeDocument/2006/relationships/slideLayout" Target="/ppt/slideLayouts/slideLayout3.xml" Id="R1695157d424249ca" /><Relationship Type="http://schemas.openxmlformats.org/officeDocument/2006/relationships/slideLayout" Target="/ppt/slideLayouts/slideLayout4.xml" Id="R0a010c797c3e4c90" /><Relationship Type="http://schemas.openxmlformats.org/officeDocument/2006/relationships/slideLayout" Target="/ppt/slideLayouts/slideLayout5.xml" Id="R389f3eda0f4f4594" /><Relationship Type="http://schemas.openxmlformats.org/officeDocument/2006/relationships/slideLayout" Target="/ppt/slideLayouts/slideLayout6.xml" Id="R71fe1a0f6c6b40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62f2042da64761"/>
    <p:sldLayoutId xmlns:r="http://schemas.openxmlformats.org/officeDocument/2006/relationships" id="2147483650" r:id="R8162213ef11f4c9e"/>
    <p:sldLayoutId xmlns:r="http://schemas.openxmlformats.org/officeDocument/2006/relationships" id="2147483651" r:id="R1695157d424249ca"/>
    <p:sldLayoutId xmlns:r="http://schemas.openxmlformats.org/officeDocument/2006/relationships" id="2147483652" r:id="R0a010c797c3e4c90"/>
    <p:sldLayoutId xmlns:r="http://schemas.openxmlformats.org/officeDocument/2006/relationships" id="2147483653" r:id="R389f3eda0f4f4594"/>
    <p:sldLayoutId xmlns:r="http://schemas.openxmlformats.org/officeDocument/2006/relationships" id="2147483654" r:id="R71fe1a0f6c6b40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f7c8fca4344da0" /><Relationship Type="http://schemas.openxmlformats.org/officeDocument/2006/relationships/notesSlide" Target="/ppt/notesSlides/notesSlide1.xml" Id="R47eb880c39b145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333bd81f664a75" /><Relationship Type="http://schemas.openxmlformats.org/officeDocument/2006/relationships/notesSlide" Target="/ppt/notesSlides/notesSlide2.xml" Id="Rded6c4fde9664c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a81c3f00644f97" /><Relationship Type="http://schemas.openxmlformats.org/officeDocument/2006/relationships/notesSlide" Target="/ppt/notesSlides/notesSlide3.xml" Id="R4443b1f84af047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9ca169c4014a0c" /><Relationship Type="http://schemas.openxmlformats.org/officeDocument/2006/relationships/notesSlide" Target="/ppt/notesSlides/notesSlide4.xml" Id="Ra744044247df4468" /></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07713922c745458e" /><Relationship Type="http://schemas.openxmlformats.org/officeDocument/2006/relationships/image" Target="/ppt/media/topology-overview-a4d231f593241872.png" Id="R1813755e895a438c" /><Relationship Type="http://schemas.openxmlformats.org/officeDocument/2006/relationships/notesSlide" Target="/ppt/notesSlides/notesSlide5.xml" Id="Rbaf8e82c1d4c4e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d11eedc3eb4c95" /><Relationship Type="http://schemas.openxmlformats.org/officeDocument/2006/relationships/chart" Target="/ppt/slides/charts/chart1.xml" Id="R1f5d8711bfdb4d12" /><Relationship Type="http://schemas.openxmlformats.org/officeDocument/2006/relationships/chart" Target="/ppt/slides/charts/chart2.xml" Id="R6fa479af53f2482c" /><Relationship Type="http://schemas.openxmlformats.org/officeDocument/2006/relationships/chart" Target="/ppt/slides/charts/chart3.xml" Id="R245da2d9b89a4c49" /><Relationship Type="http://schemas.openxmlformats.org/officeDocument/2006/relationships/notesSlide" Target="/ppt/notesSlides/notesSlide6.xml" Id="Rd9ded613396645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2b703adf414c70" /><Relationship Type="http://schemas.openxmlformats.org/officeDocument/2006/relationships/chart" Target="/ppt/slides/charts/chart4.xml" Id="Rece529a20fe14363" /><Relationship Type="http://schemas.openxmlformats.org/officeDocument/2006/relationships/chart" Target="/ppt/slides/charts/chart5.xml" Id="R5fa14c4ab99642fe" /><Relationship Type="http://schemas.openxmlformats.org/officeDocument/2006/relationships/chart" Target="/ppt/slides/charts/chart6.xml" Id="Rb8c19b98ac4e4750" /><Relationship Type="http://schemas.openxmlformats.org/officeDocument/2006/relationships/notesSlide" Target="/ppt/notesSlides/notesSlide7.xml" Id="R24604d2365da42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702ff1f3b54ad9" /><Relationship Type="http://schemas.openxmlformats.org/officeDocument/2006/relationships/notesSlide" Target="/ppt/notesSlides/notesSlide8.xml" Id="R3d5ca2e8f95c45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ecdf2bc5ff4325" /><Relationship Type="http://schemas.openxmlformats.org/officeDocument/2006/relationships/notesSlide" Target="/ppt/notesSlides/notesSlide9.xml" Id="Rac4dca7dd4e140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de3a39509eb4923" /><Relationship Type="http://schemas.openxmlformats.org/officeDocument/2006/relationships/notesSlide" Target="/ppt/notesSlides/notesSlide10.xml" Id="R837635edfaa44e8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100</c:v>
                </c:pt>
                <c:pt idx="1">
                  <c:v>93.2</c:v>
                </c:pt>
                <c:pt idx="2">
                  <c:v>63.34</c:v>
                </c:pt>
                <c:pt idx="3">
                  <c:v>0</c:v>
                </c:pt>
                <c:pt idx="4">
                  <c:v>69.99</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100</c:v>
                </c:pt>
                <c:pt idx="1">
                  <c:v>99.78</c:v>
                </c:pt>
                <c:pt idx="2">
                  <c:v>96.93</c:v>
                </c:pt>
                <c:pt idx="3">
                  <c:v>59.48</c:v>
                </c:pt>
                <c:pt idx="4">
                  <c:v>99.93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99.95</c:v>
                </c:pt>
                <c:pt idx="1">
                  <c:v>86.53</c:v>
                </c:pt>
                <c:pt idx="2">
                  <c:v>52.27</c:v>
                </c:pt>
                <c:pt idx="3">
                  <c:v>0</c:v>
                </c:pt>
                <c:pt idx="4">
                  <c:v>63.31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99.95</c:v>
                </c:pt>
                <c:pt idx="1">
                  <c:v>99.79</c:v>
                </c:pt>
                <c:pt idx="2">
                  <c:v>95.78</c:v>
                </c:pt>
                <c:pt idx="3">
                  <c:v>58.96</c:v>
                </c:pt>
                <c:pt idx="4">
                  <c:v>99.94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99.75</c:v>
                </c:pt>
                <c:pt idx="1">
                  <c:v>76.5</c:v>
                </c:pt>
                <c:pt idx="2">
                  <c:v>55.88</c:v>
                </c:pt>
                <c:pt idx="3">
                  <c:v>0</c:v>
                </c:pt>
                <c:pt idx="4">
                  <c:v>76.51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99.75</c:v>
                </c:pt>
                <c:pt idx="1">
                  <c:v>99.7</c:v>
                </c:pt>
                <c:pt idx="2">
                  <c:v>94.46</c:v>
                </c:pt>
                <c:pt idx="3">
                  <c:v>57.45</c:v>
                </c:pt>
                <c:pt idx="4">
                  <c:v>99.75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2.42</c:v>
                </c:pt>
                <c:pt idx="1">
                  <c:v>2.41</c:v>
                </c:pt>
                <c:pt idx="2">
                  <c:v>2.41</c:v>
                </c:pt>
                <c:pt idx="3">
                  <c:v>1.96</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2.53</c:v>
                </c:pt>
                <c:pt idx="1">
                  <c:v>2.71</c:v>
                </c:pt>
                <c:pt idx="2">
                  <c:v>4.08</c:v>
                </c:pt>
                <c:pt idx="3">
                  <c:v>2.81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19.27</c:v>
                </c:pt>
                <c:pt idx="1">
                  <c:v>18.67</c:v>
                </c:pt>
                <c:pt idx="2">
                  <c:v>28.23</c:v>
                </c:pt>
                <c:pt idx="3">
                  <c:v>14.21</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19.6</c:v>
                </c:pt>
                <c:pt idx="1">
                  <c:v>20.94</c:v>
                </c:pt>
                <c:pt idx="2">
                  <c:v>37.49</c:v>
                </c:pt>
                <c:pt idx="3">
                  <c:v>18.21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83.16</c:v>
                </c:pt>
                <c:pt idx="1">
                  <c:v>82.27</c:v>
                </c:pt>
                <c:pt idx="2">
                  <c:v>99.47</c:v>
                </c:pt>
                <c:pt idx="3">
                  <c:v>71.69</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84.66</c:v>
                </c:pt>
                <c:pt idx="1">
                  <c:v>90.84</c:v>
                </c:pt>
                <c:pt idx="2">
                  <c:v>166.21</c:v>
                </c:pt>
                <c:pt idx="3">
                  <c:v>86.8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5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EBA315C-672B-493C-92F3-1D249C3FE07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 / 10</a:t>
            </a:r>
          </a:p>
        </p:txBody>
      </p:sp>
      <p:sp>
        <p:nvSpPr>
          <p:cNvPr id="2" name="Transparent Multi-Hop&#10;Routing for Raft">
            <a:extLst xmlns:a="http://schemas.openxmlformats.org/drawingml/2006/main">
              <a:ext uri="{FF2B5EF4-FFF2-40B4-BE49-F238E27FC236}">
                <a16:creationId xmlns:a16="http://schemas.microsoft.com/office/drawing/2014/main" id="{C02B62E1-829F-4505-8BB9-E5BDB9318B08}"/>
              </a:ext>
            </a:extLst>
          </p:cNvPr>
          <p:cNvSpPr>
            <a:spLocks xmlns:a="http://schemas.openxmlformats.org/drawingml/2006/main" noGrp="1"/>
          </p:cNvSpPr>
          <p:nvPr/>
        </p:nvSpPr>
        <p:spPr>
          <a:xfrm xmlns:a="http://schemas.openxmlformats.org/drawingml/2006/main">
            <a:off x="685800" y="1428750"/>
            <a:ext cx="104775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3247"/>
                </a:solidFill>
                <a:latin typeface="Arial"/>
                <a:ea typeface="Arial"/>
                <a:cs typeface="Arial"/>
              </a:defRPr>
            </a:defPPr>
            <a:lvl1pPr algn="l">
              <a:defRPr sz="4350" b="1">
                <a:solidFill>
                  <a:srgbClr val="173247"/>
                </a:solidFill>
                <a:latin typeface="Arial"/>
                <a:ea typeface="Arial"/>
                <a:cs typeface="Arial"/>
              </a:defRPr>
            </a:lvl1pPr>
            <a:lvl2pPr algn="l">
              <a:defRPr sz="4350" b="1">
                <a:solidFill>
                  <a:srgbClr val="173247"/>
                </a:solidFill>
                <a:latin typeface="Arial"/>
                <a:ea typeface="Arial"/>
                <a:cs typeface="Arial"/>
              </a:defRPr>
            </a:lvl2pPr>
            <a:lvl3pPr algn="l">
              <a:defRPr sz="4350" b="1">
                <a:solidFill>
                  <a:srgbClr val="173247"/>
                </a:solidFill>
                <a:latin typeface="Arial"/>
                <a:ea typeface="Arial"/>
                <a:cs typeface="Arial"/>
              </a:defRPr>
            </a:lvl3pPr>
            <a:lvl4pPr algn="l">
              <a:defRPr sz="4350" b="1">
                <a:solidFill>
                  <a:srgbClr val="173247"/>
                </a:solidFill>
                <a:latin typeface="Arial"/>
                <a:ea typeface="Arial"/>
                <a:cs typeface="Arial"/>
              </a:defRPr>
            </a:lvl4pPr>
            <a:lvl5pPr algn="l">
              <a:defRPr sz="4350" b="1">
                <a:solidFill>
                  <a:srgbClr val="173247"/>
                </a:solidFill>
                <a:latin typeface="Arial"/>
                <a:ea typeface="Arial"/>
                <a:cs typeface="Arial"/>
              </a:defRPr>
            </a:lvl5pPr>
            <a:lvl6pPr algn="l">
              <a:defRPr sz="4350" b="1">
                <a:solidFill>
                  <a:srgbClr val="173247"/>
                </a:solidFill>
                <a:latin typeface="Arial"/>
                <a:ea typeface="Arial"/>
                <a:cs typeface="Arial"/>
              </a:defRPr>
            </a:lvl6pPr>
            <a:lvl7pPr algn="l">
              <a:defRPr sz="4350" b="1">
                <a:solidFill>
                  <a:srgbClr val="173247"/>
                </a:solidFill>
                <a:latin typeface="Arial"/>
                <a:ea typeface="Arial"/>
                <a:cs typeface="Arial"/>
              </a:defRPr>
            </a:lvl7pPr>
            <a:lvl8pPr algn="l">
              <a:defRPr sz="4350" b="1">
                <a:solidFill>
                  <a:srgbClr val="173247"/>
                </a:solidFill>
                <a:latin typeface="Arial"/>
                <a:ea typeface="Arial"/>
                <a:cs typeface="Arial"/>
              </a:defRPr>
            </a:lvl8pPr>
            <a:lvl9pPr algn="l">
              <a:defRPr sz="4350" b="1">
                <a:solidFill>
                  <a:srgbClr val="173247"/>
                </a:solidFill>
                <a:latin typeface="Arial"/>
                <a:ea typeface="Arial"/>
                <a:cs typeface="Arial"/>
              </a:defRPr>
            </a:lvl9pPr>
          </a:lstStyle>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Transparent Multi-Hop</a:t>
            </a:r>
          </a:p>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Routing for Raft</a:t>
            </a:r>
          </a:p>
        </p:txBody>
      </p:sp>
      <p:sp>
        <p:nvSpPr>
          <p:cNvPr id="3" name="Under Partial Network Partitions">
            <a:extLst xmlns:a="http://schemas.openxmlformats.org/drawingml/2006/main">
              <a:ext uri="{FF2B5EF4-FFF2-40B4-BE49-F238E27FC236}">
                <a16:creationId xmlns:a16="http://schemas.microsoft.com/office/drawing/2014/main" id="{B36F8C4B-63B1-46FE-8865-E3DE7AA00375}"/>
              </a:ext>
            </a:extLst>
          </p:cNvPr>
          <p:cNvSpPr>
            <a:spLocks xmlns:a="http://schemas.openxmlformats.org/drawingml/2006/main" noGrp="1"/>
          </p:cNvSpPr>
          <p:nvPr/>
        </p:nvSpPr>
        <p:spPr>
          <a:xfrm xmlns:a="http://schemas.openxmlformats.org/drawingml/2006/main">
            <a:off x="685800" y="310515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07E87"/>
                </a:solidFill>
                <a:latin typeface="Arial"/>
                <a:ea typeface="Arial"/>
                <a:cs typeface="Arial"/>
              </a:defRPr>
            </a:defPPr>
            <a:lvl1pPr algn="l">
              <a:defRPr sz="2850" b="0">
                <a:solidFill>
                  <a:srgbClr val="007E87"/>
                </a:solidFill>
                <a:latin typeface="Arial"/>
                <a:ea typeface="Arial"/>
                <a:cs typeface="Arial"/>
              </a:defRPr>
            </a:lvl1pPr>
            <a:lvl2pPr algn="l">
              <a:defRPr sz="2850" b="0">
                <a:solidFill>
                  <a:srgbClr val="007E87"/>
                </a:solidFill>
                <a:latin typeface="Arial"/>
                <a:ea typeface="Arial"/>
                <a:cs typeface="Arial"/>
              </a:defRPr>
            </a:lvl2pPr>
            <a:lvl3pPr algn="l">
              <a:defRPr sz="2850" b="0">
                <a:solidFill>
                  <a:srgbClr val="007E87"/>
                </a:solidFill>
                <a:latin typeface="Arial"/>
                <a:ea typeface="Arial"/>
                <a:cs typeface="Arial"/>
              </a:defRPr>
            </a:lvl3pPr>
            <a:lvl4pPr algn="l">
              <a:defRPr sz="2850" b="0">
                <a:solidFill>
                  <a:srgbClr val="007E87"/>
                </a:solidFill>
                <a:latin typeface="Arial"/>
                <a:ea typeface="Arial"/>
                <a:cs typeface="Arial"/>
              </a:defRPr>
            </a:lvl4pPr>
            <a:lvl5pPr algn="l">
              <a:defRPr sz="2850" b="0">
                <a:solidFill>
                  <a:srgbClr val="007E87"/>
                </a:solidFill>
                <a:latin typeface="Arial"/>
                <a:ea typeface="Arial"/>
                <a:cs typeface="Arial"/>
              </a:defRPr>
            </a:lvl5pPr>
            <a:lvl6pPr algn="l">
              <a:defRPr sz="2850" b="0">
                <a:solidFill>
                  <a:srgbClr val="007E87"/>
                </a:solidFill>
                <a:latin typeface="Arial"/>
                <a:ea typeface="Arial"/>
                <a:cs typeface="Arial"/>
              </a:defRPr>
            </a:lvl6pPr>
            <a:lvl7pPr algn="l">
              <a:defRPr sz="2850" b="0">
                <a:solidFill>
                  <a:srgbClr val="007E87"/>
                </a:solidFill>
                <a:latin typeface="Arial"/>
                <a:ea typeface="Arial"/>
                <a:cs typeface="Arial"/>
              </a:defRPr>
            </a:lvl7pPr>
            <a:lvl8pPr algn="l">
              <a:defRPr sz="2850" b="0">
                <a:solidFill>
                  <a:srgbClr val="007E87"/>
                </a:solidFill>
                <a:latin typeface="Arial"/>
                <a:ea typeface="Arial"/>
                <a:cs typeface="Arial"/>
              </a:defRPr>
            </a:lvl8pPr>
            <a:lvl9pPr algn="l">
              <a:defRPr sz="2850" b="0">
                <a:solidFill>
                  <a:srgbClr val="007E87"/>
                </a:solidFill>
                <a:latin typeface="Arial"/>
                <a:ea typeface="Arial"/>
                <a:cs typeface="Arial"/>
              </a:defRPr>
            </a:lvl9pPr>
          </a:lstStyle>
          <a:p xmlns:a="http://schemas.openxmlformats.org/drawingml/2006/main">
            <a:pPr algn="l">
              <a:buNone/>
              <a:defRPr sz="2850" b="0">
                <a:solidFill>
                  <a:srgbClr val="007E87"/>
                </a:solidFill>
                <a:latin typeface="Arial"/>
                <a:ea typeface="Arial"/>
                <a:cs typeface="Arial"/>
              </a:defRPr>
            </a:pPr>
            <a:r>
              <a:rPr sz="2850" b="0">
                <a:solidFill>
                  <a:srgbClr val="007E87"/>
                </a:solidFill>
                <a:latin typeface="Arial"/>
                <a:ea typeface="Arial"/>
                <a:cs typeface="Arial"/>
              </a:rPr>
              <a:t>Under Partial Network Partitions</a:t>
            </a:r>
          </a:p>
        </p:txBody>
      </p:sp>
      <p:sp>
        <p:nvSpPr>
          <p:cNvPr id="4" name="Lorenzo Deflorian&#10;Juozas Skarbalius">
            <a:extLst xmlns:a="http://schemas.openxmlformats.org/drawingml/2006/main">
              <a:ext uri="{FF2B5EF4-FFF2-40B4-BE49-F238E27FC236}">
                <a16:creationId xmlns:a16="http://schemas.microsoft.com/office/drawing/2014/main" id="{2511A708-D9CF-47C6-A8CB-92D8B6B7D574}"/>
              </a:ext>
            </a:extLst>
          </p:cNvPr>
          <p:cNvSpPr>
            <a:spLocks xmlns:a="http://schemas.openxmlformats.org/drawingml/2006/main" noGrp="1"/>
          </p:cNvSpPr>
          <p:nvPr/>
        </p:nvSpPr>
        <p:spPr>
          <a:xfrm xmlns:a="http://schemas.openxmlformats.org/drawingml/2006/main">
            <a:off x="685800" y="4362450"/>
            <a:ext cx="7429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Lorenzo Deflorian</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Juozas Skarbalius</a:t>
            </a:r>
          </a:p>
        </p:txBody>
      </p:sp>
      <p:sp>
        <p:nvSpPr>
          <p:cNvPr id="5" name="KTH · II2202">
            <a:extLst xmlns:a="http://schemas.openxmlformats.org/drawingml/2006/main">
              <a:ext uri="{FF2B5EF4-FFF2-40B4-BE49-F238E27FC236}">
                <a16:creationId xmlns:a16="http://schemas.microsoft.com/office/drawing/2014/main" id="{EEF633DA-14E6-42A4-B00F-2ADC0516F2FD}"/>
              </a:ext>
            </a:extLst>
          </p:cNvPr>
          <p:cNvSpPr>
            <a:spLocks xmlns:a="http://schemas.openxmlformats.org/drawingml/2006/main" noGrp="1"/>
          </p:cNvSpPr>
          <p:nvPr/>
        </p:nvSpPr>
        <p:spPr>
          <a:xfrm xmlns:a="http://schemas.openxmlformats.org/drawingml/2006/main">
            <a:off x="685800" y="56007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vl1pPr algn="l">
              <a:defRPr sz="1800" b="0">
                <a:solidFill>
                  <a:srgbClr val="556570"/>
                </a:solidFill>
                <a:latin typeface="Arial"/>
                <a:ea typeface="Arial"/>
                <a:cs typeface="Arial"/>
              </a:defRPr>
            </a:lvl1pPr>
            <a:lvl2pPr algn="l">
              <a:defRPr sz="1800" b="0">
                <a:solidFill>
                  <a:srgbClr val="556570"/>
                </a:solidFill>
                <a:latin typeface="Arial"/>
                <a:ea typeface="Arial"/>
                <a:cs typeface="Arial"/>
              </a:defRPr>
            </a:lvl2pPr>
            <a:lvl3pPr algn="l">
              <a:defRPr sz="1800" b="0">
                <a:solidFill>
                  <a:srgbClr val="556570"/>
                </a:solidFill>
                <a:latin typeface="Arial"/>
                <a:ea typeface="Arial"/>
                <a:cs typeface="Arial"/>
              </a:defRPr>
            </a:lvl3pPr>
            <a:lvl4pPr algn="l">
              <a:defRPr sz="1800" b="0">
                <a:solidFill>
                  <a:srgbClr val="556570"/>
                </a:solidFill>
                <a:latin typeface="Arial"/>
                <a:ea typeface="Arial"/>
                <a:cs typeface="Arial"/>
              </a:defRPr>
            </a:lvl4pPr>
            <a:lvl5pPr algn="l">
              <a:defRPr sz="1800" b="0">
                <a:solidFill>
                  <a:srgbClr val="556570"/>
                </a:solidFill>
                <a:latin typeface="Arial"/>
                <a:ea typeface="Arial"/>
                <a:cs typeface="Arial"/>
              </a:defRPr>
            </a:lvl5pPr>
            <a:lvl6pPr algn="l">
              <a:defRPr sz="1800" b="0">
                <a:solidFill>
                  <a:srgbClr val="556570"/>
                </a:solidFill>
                <a:latin typeface="Arial"/>
                <a:ea typeface="Arial"/>
                <a:cs typeface="Arial"/>
              </a:defRPr>
            </a:lvl6pPr>
            <a:lvl7pPr algn="l">
              <a:defRPr sz="1800" b="0">
                <a:solidFill>
                  <a:srgbClr val="556570"/>
                </a:solidFill>
                <a:latin typeface="Arial"/>
                <a:ea typeface="Arial"/>
                <a:cs typeface="Arial"/>
              </a:defRPr>
            </a:lvl7pPr>
            <a:lvl8pPr algn="l">
              <a:defRPr sz="1800" b="0">
                <a:solidFill>
                  <a:srgbClr val="556570"/>
                </a:solidFill>
                <a:latin typeface="Arial"/>
                <a:ea typeface="Arial"/>
                <a:cs typeface="Arial"/>
              </a:defRPr>
            </a:lvl8pPr>
            <a:lvl9pPr algn="l">
              <a:defRPr sz="1800" b="0">
                <a:solidFill>
                  <a:srgbClr val="556570"/>
                </a:solidFill>
                <a:latin typeface="Arial"/>
                <a:ea typeface="Arial"/>
                <a:cs typeface="Arial"/>
              </a:defRPr>
            </a:lvl9pPr>
          </a:lstStyle>
          <a:p xmlns:a="http://schemas.openxmlformats.org/drawingml/2006/main">
            <a:pPr algn="l">
              <a:buNone/>
              <a:defRPr sz="1800" b="0">
                <a:solidFill>
                  <a:srgbClr val="556570"/>
                </a:solidFill>
                <a:latin typeface="Arial"/>
                <a:ea typeface="Arial"/>
                <a:cs typeface="Arial"/>
              </a:defRPr>
            </a:pPr>
            <a:r>
              <a:rPr sz="1800" b="0">
                <a:solidFill>
                  <a:srgbClr val="556570"/>
                </a:solidFill>
                <a:latin typeface="Arial"/>
                <a:ea typeface="Arial"/>
                <a:cs typeface="Arial"/>
              </a:rPr>
              <a:t>KTH · II2202</a:t>
            </a:r>
          </a:p>
        </p:txBody>
      </p:sp>
    </p:spTree>
    <p:extLst>
      <p:ext uri="{BB962C8B-B14F-4D97-AF65-F5344CB8AC3E}">
        <p14:creationId xmlns:p14="http://schemas.microsoft.com/office/powerpoint/2010/main" val="636755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6B9DAC4-2131-4BEC-B453-4CD5F7EF81A4}"/>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Partial partitions can interrupt Raft</a:t>
            </a:r>
          </a:p>
        </p:txBody>
      </p:sp>
      <p:sp>
        <p:nvSpPr>
          <p:cNvPr id="2" name="slide-number">
            <a:extLst xmlns:a="http://schemas.openxmlformats.org/drawingml/2006/main">
              <a:ext uri="{FF2B5EF4-FFF2-40B4-BE49-F238E27FC236}">
                <a16:creationId xmlns:a16="http://schemas.microsoft.com/office/drawing/2014/main" id="{6B8D0C65-DEEE-48D5-B900-DE04C8038A4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2 / 10</a:t>
            </a:r>
          </a:p>
        </p:txBody>
      </p:sp>
      <p:sp>
        <p:nvSpPr>
          <p:cNvPr id="3" name="Nodes may remain reachable through peers&#10;even">
            <a:extLst xmlns:a="http://schemas.openxmlformats.org/drawingml/2006/main">
              <a:ext uri="{FF2B5EF4-FFF2-40B4-BE49-F238E27FC236}">
                <a16:creationId xmlns:a16="http://schemas.microsoft.com/office/drawing/2014/main" id="{82CCB246-62BE-4529-9EA0-3EEF2E43337C}"/>
              </a:ext>
            </a:extLst>
          </p:cNvPr>
          <p:cNvSpPr>
            <a:spLocks xmlns:a="http://schemas.openxmlformats.org/drawingml/2006/main" noGrp="1"/>
          </p:cNvSpPr>
          <p:nvPr/>
        </p:nvSpPr>
        <p:spPr>
          <a:xfrm xmlns:a="http://schemas.openxmlformats.org/drawingml/2006/main">
            <a:off x="685800" y="1695450"/>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3247"/>
                </a:solidFill>
                <a:latin typeface="Arial"/>
                <a:ea typeface="Arial"/>
                <a:cs typeface="Arial"/>
              </a:defRPr>
            </a:defPPr>
            <a:lvl1pPr algn="l">
              <a:defRPr sz="2850" b="1">
                <a:solidFill>
                  <a:srgbClr val="173247"/>
                </a:solidFill>
                <a:latin typeface="Arial"/>
                <a:ea typeface="Arial"/>
                <a:cs typeface="Arial"/>
              </a:defRPr>
            </a:lvl1pPr>
            <a:lvl2pPr algn="l">
              <a:defRPr sz="2850" b="1">
                <a:solidFill>
                  <a:srgbClr val="173247"/>
                </a:solidFill>
                <a:latin typeface="Arial"/>
                <a:ea typeface="Arial"/>
                <a:cs typeface="Arial"/>
              </a:defRPr>
            </a:lvl2pPr>
            <a:lvl3pPr algn="l">
              <a:defRPr sz="2850" b="1">
                <a:solidFill>
                  <a:srgbClr val="173247"/>
                </a:solidFill>
                <a:latin typeface="Arial"/>
                <a:ea typeface="Arial"/>
                <a:cs typeface="Arial"/>
              </a:defRPr>
            </a:lvl3pPr>
            <a:lvl4pPr algn="l">
              <a:defRPr sz="2850" b="1">
                <a:solidFill>
                  <a:srgbClr val="173247"/>
                </a:solidFill>
                <a:latin typeface="Arial"/>
                <a:ea typeface="Arial"/>
                <a:cs typeface="Arial"/>
              </a:defRPr>
            </a:lvl4pPr>
            <a:lvl5pPr algn="l">
              <a:defRPr sz="2850" b="1">
                <a:solidFill>
                  <a:srgbClr val="173247"/>
                </a:solidFill>
                <a:latin typeface="Arial"/>
                <a:ea typeface="Arial"/>
                <a:cs typeface="Arial"/>
              </a:defRPr>
            </a:lvl5pPr>
            <a:lvl6pPr algn="l">
              <a:defRPr sz="2850" b="1">
                <a:solidFill>
                  <a:srgbClr val="173247"/>
                </a:solidFill>
                <a:latin typeface="Arial"/>
                <a:ea typeface="Arial"/>
                <a:cs typeface="Arial"/>
              </a:defRPr>
            </a:lvl6pPr>
            <a:lvl7pPr algn="l">
              <a:defRPr sz="2850" b="1">
                <a:solidFill>
                  <a:srgbClr val="173247"/>
                </a:solidFill>
                <a:latin typeface="Arial"/>
                <a:ea typeface="Arial"/>
                <a:cs typeface="Arial"/>
              </a:defRPr>
            </a:lvl7pPr>
            <a:lvl8pPr algn="l">
              <a:defRPr sz="2850" b="1">
                <a:solidFill>
                  <a:srgbClr val="173247"/>
                </a:solidFill>
                <a:latin typeface="Arial"/>
                <a:ea typeface="Arial"/>
                <a:cs typeface="Arial"/>
              </a:defRPr>
            </a:lvl8pPr>
            <a:lvl9pPr algn="l">
              <a:defRPr sz="2850" b="1">
                <a:solidFill>
                  <a:srgbClr val="173247"/>
                </a:solidFill>
                <a:latin typeface="Arial"/>
                <a:ea typeface="Arial"/>
                <a:cs typeface="Arial"/>
              </a:defRPr>
            </a:lvl9pPr>
          </a:lstStyle>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Nodes may remain reachable through peers</a:t>
            </a:r>
          </a:p>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even when their direct links fail.</a:t>
            </a:r>
          </a:p>
        </p:txBody>
      </p:sp>
      <p:sp>
        <p:nvSpPr>
          <p:cNvPr id="4" name="Consensus services need progress to remain av">
            <a:extLst xmlns:a="http://schemas.openxmlformats.org/drawingml/2006/main">
              <a:ext uri="{FF2B5EF4-FFF2-40B4-BE49-F238E27FC236}">
                <a16:creationId xmlns:a16="http://schemas.microsoft.com/office/drawing/2014/main" id="{B967E3D6-3AAC-4334-AE76-61CC1F1222D8}"/>
              </a:ext>
            </a:extLst>
          </p:cNvPr>
          <p:cNvSpPr>
            <a:spLocks xmlns:a="http://schemas.openxmlformats.org/drawingml/2006/main" noGrp="1"/>
          </p:cNvSpPr>
          <p:nvPr/>
        </p:nvSpPr>
        <p:spPr>
          <a:xfrm xmlns:a="http://schemas.openxmlformats.org/drawingml/2006/main">
            <a:off x="685800" y="28860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buNone/>
              <a:defRPr sz="2100" b="0">
                <a:solidFill>
                  <a:srgbClr val="556570"/>
                </a:solidFill>
                <a:latin typeface="Arial"/>
                <a:ea typeface="Arial"/>
                <a:cs typeface="Arial"/>
              </a:defRPr>
            </a:pPr>
            <a:r>
              <a:rPr sz="2100" b="0">
                <a:solidFill>
                  <a:srgbClr val="556570"/>
                </a:solidFill>
                <a:latin typeface="Arial"/>
                <a:ea typeface="Arial"/>
                <a:cs typeface="Arial"/>
              </a:rPr>
              <a:t>Consensus services need progress to remain available.</a:t>
            </a:r>
          </a:p>
        </p:txBody>
      </p:sp>
      <p:sp>
        <p:nvSpPr>
          <p:cNvPr id="5" name="RQ1  Progress">
            <a:extLst xmlns:a="http://schemas.openxmlformats.org/drawingml/2006/main">
              <a:ext uri="{FF2B5EF4-FFF2-40B4-BE49-F238E27FC236}">
                <a16:creationId xmlns:a16="http://schemas.microsoft.com/office/drawing/2014/main" id="{04D1A19E-6F12-405C-8EDE-77D670EA4ADE}"/>
              </a:ext>
            </a:extLst>
          </p:cNvPr>
          <p:cNvSpPr>
            <a:spLocks xmlns:a="http://schemas.openxmlformats.org/drawingml/2006/main" noGrp="1"/>
          </p:cNvSpPr>
          <p:nvPr/>
        </p:nvSpPr>
        <p:spPr>
          <a:xfrm xmlns:a="http://schemas.openxmlformats.org/drawingml/2006/main">
            <a:off x="6858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RQ1  Progress</a:t>
            </a:r>
          </a:p>
        </p:txBody>
      </p:sp>
      <p:sp>
        <p:nvSpPr>
          <p:cNvPr id="6" name="When does forwarding restore&#10;stable commits?">
            <a:extLst xmlns:a="http://schemas.openxmlformats.org/drawingml/2006/main">
              <a:ext uri="{FF2B5EF4-FFF2-40B4-BE49-F238E27FC236}">
                <a16:creationId xmlns:a16="http://schemas.microsoft.com/office/drawing/2014/main" id="{B5C0F5B0-5506-4BE5-AB1D-AF6602E7F466}"/>
              </a:ext>
            </a:extLst>
          </p:cNvPr>
          <p:cNvSpPr>
            <a:spLocks xmlns:a="http://schemas.openxmlformats.org/drawingml/2006/main" noGrp="1"/>
          </p:cNvSpPr>
          <p:nvPr/>
        </p:nvSpPr>
        <p:spPr>
          <a:xfrm xmlns:a="http://schemas.openxmlformats.org/drawingml/2006/main">
            <a:off x="6858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When does forwarding restore</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stable commits?</a:t>
            </a:r>
          </a:p>
        </p:txBody>
      </p:sp>
      <p:sp>
        <p:nvSpPr>
          <p:cNvPr id="7" name="RQ2  Latency">
            <a:extLst xmlns:a="http://schemas.openxmlformats.org/drawingml/2006/main">
              <a:ext uri="{FF2B5EF4-FFF2-40B4-BE49-F238E27FC236}">
                <a16:creationId xmlns:a16="http://schemas.microsoft.com/office/drawing/2014/main" id="{E7A2A60C-FFDC-4A45-B219-562142A905F4}"/>
              </a:ext>
            </a:extLst>
          </p:cNvPr>
          <p:cNvSpPr>
            <a:spLocks xmlns:a="http://schemas.openxmlformats.org/drawingml/2006/main" noGrp="1"/>
          </p:cNvSpPr>
          <p:nvPr/>
        </p:nvSpPr>
        <p:spPr>
          <a:xfrm xmlns:a="http://schemas.openxmlformats.org/drawingml/2006/main">
            <a:off x="63246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RQ2  Latency</a:t>
            </a:r>
          </a:p>
        </p:txBody>
      </p:sp>
      <p:sp>
        <p:nvSpPr>
          <p:cNvPr id="8" name="What delay does forwarding add&#10;to client-obse">
            <a:extLst xmlns:a="http://schemas.openxmlformats.org/drawingml/2006/main">
              <a:ext uri="{FF2B5EF4-FFF2-40B4-BE49-F238E27FC236}">
                <a16:creationId xmlns:a16="http://schemas.microsoft.com/office/drawing/2014/main" id="{45C1796F-F59C-4970-8FDB-37479DC785FD}"/>
              </a:ext>
            </a:extLst>
          </p:cNvPr>
          <p:cNvSpPr>
            <a:spLocks xmlns:a="http://schemas.openxmlformats.org/drawingml/2006/main" noGrp="1"/>
          </p:cNvSpPr>
          <p:nvPr/>
        </p:nvSpPr>
        <p:spPr>
          <a:xfrm xmlns:a="http://schemas.openxmlformats.org/drawingml/2006/main">
            <a:off x="63246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What delay does forwarding add</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to client-observed commits?</a:t>
            </a:r>
          </a:p>
        </p:txBody>
      </p:sp>
      <p:sp>
        <p:nvSpPr>
          <p:cNvPr id="9" name="Goal: improve resilience while keeping the Ra">
            <a:extLst xmlns:a="http://schemas.openxmlformats.org/drawingml/2006/main">
              <a:ext uri="{FF2B5EF4-FFF2-40B4-BE49-F238E27FC236}">
                <a16:creationId xmlns:a16="http://schemas.microsoft.com/office/drawing/2014/main" id="{4972047E-47C2-4143-A5E6-715BA03BEFFB}"/>
              </a:ext>
            </a:extLst>
          </p:cNvPr>
          <p:cNvSpPr>
            <a:spLocks xmlns:a="http://schemas.openxmlformats.org/drawingml/2006/main" noGrp="1"/>
          </p:cNvSpPr>
          <p:nvPr/>
        </p:nvSpPr>
        <p:spPr>
          <a:xfrm xmlns:a="http://schemas.openxmlformats.org/drawingml/2006/main">
            <a:off x="685800" y="57721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defRPr sz="1875" b="0">
                <a:solidFill>
                  <a:srgbClr val="007E87"/>
                </a:solidFill>
                <a:latin typeface="Arial"/>
                <a:ea typeface="Arial"/>
                <a:cs typeface="Arial"/>
              </a:defRPr>
            </a:lvl1pPr>
            <a:lvl2pPr algn="l">
              <a:defRPr sz="1875" b="0">
                <a:solidFill>
                  <a:srgbClr val="007E87"/>
                </a:solidFill>
                <a:latin typeface="Arial"/>
                <a:ea typeface="Arial"/>
                <a:cs typeface="Arial"/>
              </a:defRPr>
            </a:lvl2pPr>
            <a:lvl3pPr algn="l">
              <a:defRPr sz="1875" b="0">
                <a:solidFill>
                  <a:srgbClr val="007E87"/>
                </a:solidFill>
                <a:latin typeface="Arial"/>
                <a:ea typeface="Arial"/>
                <a:cs typeface="Arial"/>
              </a:defRPr>
            </a:lvl3pPr>
            <a:lvl4pPr algn="l">
              <a:defRPr sz="1875" b="0">
                <a:solidFill>
                  <a:srgbClr val="007E87"/>
                </a:solidFill>
                <a:latin typeface="Arial"/>
                <a:ea typeface="Arial"/>
                <a:cs typeface="Arial"/>
              </a:defRPr>
            </a:lvl4pPr>
            <a:lvl5pPr algn="l">
              <a:defRPr sz="1875" b="0">
                <a:solidFill>
                  <a:srgbClr val="007E87"/>
                </a:solidFill>
                <a:latin typeface="Arial"/>
                <a:ea typeface="Arial"/>
                <a:cs typeface="Arial"/>
              </a:defRPr>
            </a:lvl5pPr>
            <a:lvl6pPr algn="l">
              <a:defRPr sz="1875" b="0">
                <a:solidFill>
                  <a:srgbClr val="007E87"/>
                </a:solidFill>
                <a:latin typeface="Arial"/>
                <a:ea typeface="Arial"/>
                <a:cs typeface="Arial"/>
              </a:defRPr>
            </a:lvl6pPr>
            <a:lvl7pPr algn="l">
              <a:defRPr sz="1875" b="0">
                <a:solidFill>
                  <a:srgbClr val="007E87"/>
                </a:solidFill>
                <a:latin typeface="Arial"/>
                <a:ea typeface="Arial"/>
                <a:cs typeface="Arial"/>
              </a:defRPr>
            </a:lvl7pPr>
            <a:lvl8pPr algn="l">
              <a:defRPr sz="1875" b="0">
                <a:solidFill>
                  <a:srgbClr val="007E87"/>
                </a:solidFill>
                <a:latin typeface="Arial"/>
                <a:ea typeface="Arial"/>
                <a:cs typeface="Arial"/>
              </a:defRPr>
            </a:lvl8pPr>
            <a:lvl9pPr algn="l">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Goal: improve resilience while keeping the Raft protocol unchanged.</a:t>
            </a:r>
          </a:p>
        </p:txBody>
      </p:sp>
    </p:spTree>
    <p:extLst>
      <p:ext uri="{BB962C8B-B14F-4D97-AF65-F5344CB8AC3E}">
        <p14:creationId xmlns:p14="http://schemas.microsoft.com/office/powerpoint/2010/main" val="12287108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0C2BD69D-919D-4611-A531-D82DF7A6817E}"/>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Raft and the routing gap</a:t>
            </a:r>
          </a:p>
        </p:txBody>
      </p:sp>
      <p:sp>
        <p:nvSpPr>
          <p:cNvPr id="2" name="slide-number">
            <a:extLst xmlns:a="http://schemas.openxmlformats.org/drawingml/2006/main">
              <a:ext uri="{FF2B5EF4-FFF2-40B4-BE49-F238E27FC236}">
                <a16:creationId xmlns:a16="http://schemas.microsoft.com/office/drawing/2014/main" id="{0E0D5790-FC05-405D-AC0A-5023D38BB8D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3 / 10</a:t>
            </a:r>
          </a:p>
        </p:txBody>
      </p:sp>
      <p:sp>
        <p:nvSpPr>
          <p:cNvPr id="3" name="Raft commits after a majority stores an entry">
            <a:extLst xmlns:a="http://schemas.openxmlformats.org/drawingml/2006/main">
              <a:ext uri="{FF2B5EF4-FFF2-40B4-BE49-F238E27FC236}">
                <a16:creationId xmlns:a16="http://schemas.microsoft.com/office/drawing/2014/main" id="{7E786AB9-2F5F-4EAF-A607-42DF7F6B097B}"/>
              </a:ext>
            </a:extLst>
          </p:cNvPr>
          <p:cNvSpPr>
            <a:spLocks xmlns:a="http://schemas.openxmlformats.org/drawingml/2006/main" noGrp="1"/>
          </p:cNvSpPr>
          <p:nvPr/>
        </p:nvSpPr>
        <p:spPr>
          <a:xfrm xmlns:a="http://schemas.openxmlformats.org/drawingml/2006/main">
            <a:off x="685800" y="1657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defRPr sz="2400" b="0">
                <a:solidFill>
                  <a:srgbClr val="173247"/>
                </a:solidFill>
                <a:latin typeface="Arial"/>
                <a:ea typeface="Arial"/>
                <a:cs typeface="Arial"/>
              </a:defRPr>
            </a:lvl1pPr>
            <a:lvl2pPr algn="l">
              <a:defRPr sz="2400" b="0">
                <a:solidFill>
                  <a:srgbClr val="173247"/>
                </a:solidFill>
                <a:latin typeface="Arial"/>
                <a:ea typeface="Arial"/>
                <a:cs typeface="Arial"/>
              </a:defRPr>
            </a:lvl2pPr>
            <a:lvl3pPr algn="l">
              <a:defRPr sz="2400" b="0">
                <a:solidFill>
                  <a:srgbClr val="173247"/>
                </a:solidFill>
                <a:latin typeface="Arial"/>
                <a:ea typeface="Arial"/>
                <a:cs typeface="Arial"/>
              </a:defRPr>
            </a:lvl3pPr>
            <a:lvl4pPr algn="l">
              <a:defRPr sz="2400" b="0">
                <a:solidFill>
                  <a:srgbClr val="173247"/>
                </a:solidFill>
                <a:latin typeface="Arial"/>
                <a:ea typeface="Arial"/>
                <a:cs typeface="Arial"/>
              </a:defRPr>
            </a:lvl4pPr>
            <a:lvl5pPr algn="l">
              <a:defRPr sz="2400" b="0">
                <a:solidFill>
                  <a:srgbClr val="173247"/>
                </a:solidFill>
                <a:latin typeface="Arial"/>
                <a:ea typeface="Arial"/>
                <a:cs typeface="Arial"/>
              </a:defRPr>
            </a:lvl5pPr>
            <a:lvl6pPr algn="l">
              <a:defRPr sz="2400" b="0">
                <a:solidFill>
                  <a:srgbClr val="173247"/>
                </a:solidFill>
                <a:latin typeface="Arial"/>
                <a:ea typeface="Arial"/>
                <a:cs typeface="Arial"/>
              </a:defRPr>
            </a:lvl6pPr>
            <a:lvl7pPr algn="l">
              <a:defRPr sz="2400" b="0">
                <a:solidFill>
                  <a:srgbClr val="173247"/>
                </a:solidFill>
                <a:latin typeface="Arial"/>
                <a:ea typeface="Arial"/>
                <a:cs typeface="Arial"/>
              </a:defRPr>
            </a:lvl7pPr>
            <a:lvl8pPr algn="l">
              <a:defRPr sz="2400" b="0">
                <a:solidFill>
                  <a:srgbClr val="173247"/>
                </a:solidFill>
                <a:latin typeface="Arial"/>
                <a:ea typeface="Arial"/>
                <a:cs typeface="Arial"/>
              </a:defRPr>
            </a:lvl8pPr>
            <a:lvl9pPr algn="l">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Raft commits after a majority stores an entry.</a:t>
            </a:r>
          </a:p>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A five-node cluster needs three replicas.</a:t>
            </a:r>
          </a:p>
        </p:txBody>
      </p:sp>
      <p:sp>
        <p:nvSpPr>
          <p:cNvPr id="4" name="Jensen et al. (2021)">
            <a:extLst xmlns:a="http://schemas.openxmlformats.org/drawingml/2006/main">
              <a:ext uri="{FF2B5EF4-FFF2-40B4-BE49-F238E27FC236}">
                <a16:creationId xmlns:a16="http://schemas.microsoft.com/office/drawing/2014/main" id="{18B796DB-61E5-47D1-9357-96AE4E1346B5}"/>
              </a:ext>
            </a:extLst>
          </p:cNvPr>
          <p:cNvSpPr>
            <a:spLocks xmlns:a="http://schemas.openxmlformats.org/drawingml/2006/main" noGrp="1"/>
          </p:cNvSpPr>
          <p:nvPr/>
        </p:nvSpPr>
        <p:spPr>
          <a:xfrm xmlns:a="http://schemas.openxmlformats.org/drawingml/2006/main">
            <a:off x="685800" y="2971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Jensen et al. (2021)</a:t>
            </a:r>
          </a:p>
        </p:txBody>
      </p:sp>
      <p:sp>
        <p:nvSpPr>
          <p:cNvPr id="5" name="Propose overlays for Raft">
            <a:extLst xmlns:a="http://schemas.openxmlformats.org/drawingml/2006/main">
              <a:ext uri="{FF2B5EF4-FFF2-40B4-BE49-F238E27FC236}">
                <a16:creationId xmlns:a16="http://schemas.microsoft.com/office/drawing/2014/main" id="{F6BC46A7-7FE3-49EB-80F5-39F437274EA9}"/>
              </a:ext>
            </a:extLst>
          </p:cNvPr>
          <p:cNvSpPr>
            <a:spLocks xmlns:a="http://schemas.openxmlformats.org/drawingml/2006/main" noGrp="1"/>
          </p:cNvSpPr>
          <p:nvPr/>
        </p:nvSpPr>
        <p:spPr>
          <a:xfrm xmlns:a="http://schemas.openxmlformats.org/drawingml/2006/main">
            <a:off x="4438650" y="2971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Propose overlays for Raft</a:t>
            </a:r>
          </a:p>
        </p:txBody>
      </p:sp>
      <p:sp>
        <p:nvSpPr>
          <p:cNvPr id="6" name="Nifty (2020)">
            <a:extLst xmlns:a="http://schemas.openxmlformats.org/drawingml/2006/main">
              <a:ext uri="{FF2B5EF4-FFF2-40B4-BE49-F238E27FC236}">
                <a16:creationId xmlns:a16="http://schemas.microsoft.com/office/drawing/2014/main" id="{55709AEF-570B-42B5-BF11-895E1D7A83FC}"/>
              </a:ext>
            </a:extLst>
          </p:cNvPr>
          <p:cNvSpPr>
            <a:spLocks xmlns:a="http://schemas.openxmlformats.org/drawingml/2006/main" noGrp="1"/>
          </p:cNvSpPr>
          <p:nvPr/>
        </p:nvSpPr>
        <p:spPr>
          <a:xfrm xmlns:a="http://schemas.openxmlformats.org/drawingml/2006/main">
            <a:off x="685800" y="3733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Nifty (2020)</a:t>
            </a:r>
          </a:p>
        </p:txBody>
      </p:sp>
      <p:sp>
        <p:nvSpPr>
          <p:cNvPr id="7" name="Reroutes traffic in other systems">
            <a:extLst xmlns:a="http://schemas.openxmlformats.org/drawingml/2006/main">
              <a:ext uri="{FF2B5EF4-FFF2-40B4-BE49-F238E27FC236}">
                <a16:creationId xmlns:a16="http://schemas.microsoft.com/office/drawing/2014/main" id="{3EC502B1-12F6-4956-B013-A2F41FD7E8F7}"/>
              </a:ext>
            </a:extLst>
          </p:cNvPr>
          <p:cNvSpPr>
            <a:spLocks xmlns:a="http://schemas.openxmlformats.org/drawingml/2006/main" noGrp="1"/>
          </p:cNvSpPr>
          <p:nvPr/>
        </p:nvSpPr>
        <p:spPr>
          <a:xfrm xmlns:a="http://schemas.openxmlformats.org/drawingml/2006/main">
            <a:off x="4438650" y="3733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Reroutes traffic in other systems</a:t>
            </a:r>
          </a:p>
        </p:txBody>
      </p:sp>
      <p:sp>
        <p:nvSpPr>
          <p:cNvPr id="8" name="Omni-Paxos (2023)">
            <a:extLst xmlns:a="http://schemas.openxmlformats.org/drawingml/2006/main">
              <a:ext uri="{FF2B5EF4-FFF2-40B4-BE49-F238E27FC236}">
                <a16:creationId xmlns:a16="http://schemas.microsoft.com/office/drawing/2014/main" id="{93B1D6E6-DEA2-4AAD-AB10-30E4FA0A0F1E}"/>
              </a:ext>
            </a:extLst>
          </p:cNvPr>
          <p:cNvSpPr>
            <a:spLocks xmlns:a="http://schemas.openxmlformats.org/drawingml/2006/main" noGrp="1"/>
          </p:cNvSpPr>
          <p:nvPr/>
        </p:nvSpPr>
        <p:spPr>
          <a:xfrm xmlns:a="http://schemas.openxmlformats.org/drawingml/2006/main">
            <a:off x="685800" y="4495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Omni-Paxos (2023)</a:t>
            </a:r>
          </a:p>
        </p:txBody>
      </p:sp>
      <p:sp>
        <p:nvSpPr>
          <p:cNvPr id="9" name="Changes consensus for partial connectivity">
            <a:extLst xmlns:a="http://schemas.openxmlformats.org/drawingml/2006/main">
              <a:ext uri="{FF2B5EF4-FFF2-40B4-BE49-F238E27FC236}">
                <a16:creationId xmlns:a16="http://schemas.microsoft.com/office/drawing/2014/main" id="{9DD87E8C-4043-4988-874A-6AAE97EC20CC}"/>
              </a:ext>
            </a:extLst>
          </p:cNvPr>
          <p:cNvSpPr>
            <a:spLocks xmlns:a="http://schemas.openxmlformats.org/drawingml/2006/main" noGrp="1"/>
          </p:cNvSpPr>
          <p:nvPr/>
        </p:nvSpPr>
        <p:spPr>
          <a:xfrm xmlns:a="http://schemas.openxmlformats.org/drawingml/2006/main">
            <a:off x="4438650" y="4495800"/>
            <a:ext cx="704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Changes consensus for partial connectivity</a:t>
            </a:r>
          </a:p>
        </p:txBody>
      </p:sp>
      <p:sp>
        <p:nvSpPr>
          <p:cNvPr id="10" name="Our gap: measure routing benefits and costs b">
            <a:extLst xmlns:a="http://schemas.openxmlformats.org/drawingml/2006/main">
              <a:ext uri="{FF2B5EF4-FFF2-40B4-BE49-F238E27FC236}">
                <a16:creationId xmlns:a16="http://schemas.microsoft.com/office/drawing/2014/main" id="{69B127F2-D630-449D-83A1-450676B30826}"/>
              </a:ext>
            </a:extLst>
          </p:cNvPr>
          <p:cNvSpPr>
            <a:spLocks xmlns:a="http://schemas.openxmlformats.org/drawingml/2006/main" noGrp="1"/>
          </p:cNvSpPr>
          <p:nvPr/>
        </p:nvSpPr>
        <p:spPr>
          <a:xfrm xmlns:a="http://schemas.openxmlformats.org/drawingml/2006/main">
            <a:off x="685800" y="57150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Our gap: measure routing benefits and costs beneath unchanged Raft.</a:t>
            </a:r>
          </a:p>
        </p:txBody>
      </p:sp>
    </p:spTree>
    <p:extLst>
      <p:ext uri="{BB962C8B-B14F-4D97-AF65-F5344CB8AC3E}">
        <p14:creationId xmlns:p14="http://schemas.microsoft.com/office/powerpoint/2010/main" val="7999810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B6F9EA7A-5723-4B65-AA73-76738D67301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buNone/>
              <a:defRPr sz="3300" b="1">
                <a:solidFill>
                  <a:srgbClr val="173247"/>
                </a:solidFill>
                <a:latin typeface="Arial"/>
                <a:ea typeface="Arial"/>
                <a:cs typeface="Arial"/>
              </a:defRPr>
            </a:lvl1pPr>
            <a:lvl2pPr algn="l">
              <a:buNone/>
              <a:defRPr sz="3300" b="1">
                <a:solidFill>
                  <a:srgbClr val="173247"/>
                </a:solidFill>
                <a:latin typeface="Arial"/>
                <a:ea typeface="Arial"/>
                <a:cs typeface="Arial"/>
              </a:defRPr>
            </a:lvl2pPr>
            <a:lvl3pPr algn="l">
              <a:buNone/>
              <a:defRPr sz="3300" b="1">
                <a:solidFill>
                  <a:srgbClr val="173247"/>
                </a:solidFill>
                <a:latin typeface="Arial"/>
                <a:ea typeface="Arial"/>
                <a:cs typeface="Arial"/>
              </a:defRPr>
            </a:lvl3pPr>
            <a:lvl4pPr algn="l">
              <a:buNone/>
              <a:defRPr sz="3300" b="1">
                <a:solidFill>
                  <a:srgbClr val="173247"/>
                </a:solidFill>
                <a:latin typeface="Arial"/>
                <a:ea typeface="Arial"/>
                <a:cs typeface="Arial"/>
              </a:defRPr>
            </a:lvl4pPr>
            <a:lvl5pPr algn="l">
              <a:buNone/>
              <a:defRPr sz="3300" b="1">
                <a:solidFill>
                  <a:srgbClr val="173247"/>
                </a:solidFill>
                <a:latin typeface="Arial"/>
                <a:ea typeface="Arial"/>
                <a:cs typeface="Arial"/>
              </a:defRPr>
            </a:lvl5pPr>
            <a:lvl6pPr algn="l">
              <a:buNone/>
              <a:defRPr sz="3300" b="1">
                <a:solidFill>
                  <a:srgbClr val="173247"/>
                </a:solidFill>
                <a:latin typeface="Arial"/>
                <a:ea typeface="Arial"/>
                <a:cs typeface="Arial"/>
              </a:defRPr>
            </a:lvl6pPr>
            <a:lvl7pPr algn="l">
              <a:buNone/>
              <a:defRPr sz="3300" b="1">
                <a:solidFill>
                  <a:srgbClr val="173247"/>
                </a:solidFill>
                <a:latin typeface="Arial"/>
                <a:ea typeface="Arial"/>
                <a:cs typeface="Arial"/>
              </a:defRPr>
            </a:lvl7pPr>
            <a:lvl8pPr algn="l">
              <a:buNone/>
              <a:defRPr sz="3300" b="1">
                <a:solidFill>
                  <a:srgbClr val="173247"/>
                </a:solidFill>
                <a:latin typeface="Arial"/>
                <a:ea typeface="Arial"/>
                <a:cs typeface="Arial"/>
              </a:defRPr>
            </a:lvl8pPr>
            <a:lvl9pPr algn="l">
              <a:buNone/>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Controlled network experiments</a:t>
            </a:r>
          </a:p>
        </p:txBody>
      </p:sp>
      <p:sp>
        <p:nvSpPr>
          <p:cNvPr id="2" name="slide-number">
            <a:extLst xmlns:a="http://schemas.openxmlformats.org/drawingml/2006/main">
              <a:ext uri="{FF2B5EF4-FFF2-40B4-BE49-F238E27FC236}">
                <a16:creationId xmlns:a16="http://schemas.microsoft.com/office/drawing/2014/main" id="{BE87028C-E446-4ADA-974A-F05322516EC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buNone/>
              <a:defRPr sz="1500" b="0">
                <a:solidFill>
                  <a:srgbClr val="556570"/>
                </a:solidFill>
                <a:latin typeface="Arial"/>
                <a:ea typeface="Arial"/>
                <a:cs typeface="Arial"/>
              </a:defRPr>
            </a:lvl1pPr>
            <a:lvl2pPr algn="r">
              <a:buNone/>
              <a:defRPr sz="1500" b="0">
                <a:solidFill>
                  <a:srgbClr val="556570"/>
                </a:solidFill>
                <a:latin typeface="Arial"/>
                <a:ea typeface="Arial"/>
                <a:cs typeface="Arial"/>
              </a:defRPr>
            </a:lvl2pPr>
            <a:lvl3pPr algn="r">
              <a:buNone/>
              <a:defRPr sz="1500" b="0">
                <a:solidFill>
                  <a:srgbClr val="556570"/>
                </a:solidFill>
                <a:latin typeface="Arial"/>
                <a:ea typeface="Arial"/>
                <a:cs typeface="Arial"/>
              </a:defRPr>
            </a:lvl3pPr>
            <a:lvl4pPr algn="r">
              <a:buNone/>
              <a:defRPr sz="1500" b="0">
                <a:solidFill>
                  <a:srgbClr val="556570"/>
                </a:solidFill>
                <a:latin typeface="Arial"/>
                <a:ea typeface="Arial"/>
                <a:cs typeface="Arial"/>
              </a:defRPr>
            </a:lvl4pPr>
            <a:lvl5pPr algn="r">
              <a:buNone/>
              <a:defRPr sz="1500" b="0">
                <a:solidFill>
                  <a:srgbClr val="556570"/>
                </a:solidFill>
                <a:latin typeface="Arial"/>
                <a:ea typeface="Arial"/>
                <a:cs typeface="Arial"/>
              </a:defRPr>
            </a:lvl5pPr>
            <a:lvl6pPr algn="r">
              <a:buNone/>
              <a:defRPr sz="1500" b="0">
                <a:solidFill>
                  <a:srgbClr val="556570"/>
                </a:solidFill>
                <a:latin typeface="Arial"/>
                <a:ea typeface="Arial"/>
                <a:cs typeface="Arial"/>
              </a:defRPr>
            </a:lvl6pPr>
            <a:lvl7pPr algn="r">
              <a:buNone/>
              <a:defRPr sz="1500" b="0">
                <a:solidFill>
                  <a:srgbClr val="556570"/>
                </a:solidFill>
                <a:latin typeface="Arial"/>
                <a:ea typeface="Arial"/>
                <a:cs typeface="Arial"/>
              </a:defRPr>
            </a:lvl7pPr>
            <a:lvl8pPr algn="r">
              <a:buNone/>
              <a:defRPr sz="1500" b="0">
                <a:solidFill>
                  <a:srgbClr val="556570"/>
                </a:solidFill>
                <a:latin typeface="Arial"/>
                <a:ea typeface="Arial"/>
                <a:cs typeface="Arial"/>
              </a:defRPr>
            </a:lvl8pPr>
            <a:lvl9pPr algn="r">
              <a:buNone/>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4 / 10</a:t>
            </a:r>
          </a:p>
        </p:txBody>
      </p:sp>
      <p:sp>
        <p:nvSpPr>
          <p:cNvPr id="3" name="900">
            <a:extLst xmlns:a="http://schemas.openxmlformats.org/drawingml/2006/main">
              <a:ext uri="{FF2B5EF4-FFF2-40B4-BE49-F238E27FC236}">
                <a16:creationId xmlns:a16="http://schemas.microsoft.com/office/drawing/2014/main" id="{1FEC74C3-5F7E-407E-89A1-26204D75F4C5}"/>
              </a:ext>
            </a:extLst>
          </p:cNvPr>
          <p:cNvSpPr>
            <a:spLocks xmlns:a="http://schemas.openxmlformats.org/drawingml/2006/main" noGrp="1"/>
          </p:cNvSpPr>
          <p:nvPr/>
        </p:nvSpPr>
        <p:spPr>
          <a:xfrm xmlns:a="http://schemas.openxmlformats.org/drawingml/2006/main">
            <a:off x="685800" y="1609725"/>
            <a:ext cx="3714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007E87"/>
                </a:solidFill>
                <a:latin typeface="Arial"/>
                <a:ea typeface="Arial"/>
                <a:cs typeface="Arial"/>
              </a:defRPr>
            </a:defPPr>
            <a:lvl1pPr algn="l">
              <a:buNone/>
              <a:defRPr sz="7500" b="1">
                <a:solidFill>
                  <a:srgbClr val="007E87"/>
                </a:solidFill>
                <a:latin typeface="Arial"/>
                <a:ea typeface="Arial"/>
                <a:cs typeface="Arial"/>
              </a:defRPr>
            </a:lvl1pPr>
            <a:lvl2pPr algn="l">
              <a:buNone/>
              <a:defRPr sz="7500" b="1">
                <a:solidFill>
                  <a:srgbClr val="007E87"/>
                </a:solidFill>
                <a:latin typeface="Arial"/>
                <a:ea typeface="Arial"/>
                <a:cs typeface="Arial"/>
              </a:defRPr>
            </a:lvl2pPr>
            <a:lvl3pPr algn="l">
              <a:buNone/>
              <a:defRPr sz="7500" b="1">
                <a:solidFill>
                  <a:srgbClr val="007E87"/>
                </a:solidFill>
                <a:latin typeface="Arial"/>
                <a:ea typeface="Arial"/>
                <a:cs typeface="Arial"/>
              </a:defRPr>
            </a:lvl3pPr>
            <a:lvl4pPr algn="l">
              <a:buNone/>
              <a:defRPr sz="7500" b="1">
                <a:solidFill>
                  <a:srgbClr val="007E87"/>
                </a:solidFill>
                <a:latin typeface="Arial"/>
                <a:ea typeface="Arial"/>
                <a:cs typeface="Arial"/>
              </a:defRPr>
            </a:lvl4pPr>
            <a:lvl5pPr algn="l">
              <a:buNone/>
              <a:defRPr sz="7500" b="1">
                <a:solidFill>
                  <a:srgbClr val="007E87"/>
                </a:solidFill>
                <a:latin typeface="Arial"/>
                <a:ea typeface="Arial"/>
                <a:cs typeface="Arial"/>
              </a:defRPr>
            </a:lvl5pPr>
            <a:lvl6pPr algn="l">
              <a:buNone/>
              <a:defRPr sz="7500" b="1">
                <a:solidFill>
                  <a:srgbClr val="007E87"/>
                </a:solidFill>
                <a:latin typeface="Arial"/>
                <a:ea typeface="Arial"/>
                <a:cs typeface="Arial"/>
              </a:defRPr>
            </a:lvl6pPr>
            <a:lvl7pPr algn="l">
              <a:buNone/>
              <a:defRPr sz="7500" b="1">
                <a:solidFill>
                  <a:srgbClr val="007E87"/>
                </a:solidFill>
                <a:latin typeface="Arial"/>
                <a:ea typeface="Arial"/>
                <a:cs typeface="Arial"/>
              </a:defRPr>
            </a:lvl7pPr>
            <a:lvl8pPr algn="l">
              <a:buNone/>
              <a:defRPr sz="7500" b="1">
                <a:solidFill>
                  <a:srgbClr val="007E87"/>
                </a:solidFill>
                <a:latin typeface="Arial"/>
                <a:ea typeface="Arial"/>
                <a:cs typeface="Arial"/>
              </a:defRPr>
            </a:lvl8pPr>
            <a:lvl9pPr algn="l">
              <a:buNone/>
              <a:defRPr sz="7500" b="1">
                <a:solidFill>
                  <a:srgbClr val="007E87"/>
                </a:solidFill>
                <a:latin typeface="Arial"/>
                <a:ea typeface="Arial"/>
                <a:cs typeface="Arial"/>
              </a:defRPr>
            </a:lvl9pPr>
          </a:lstStyle>
          <a:p xmlns:a="http://schemas.openxmlformats.org/drawingml/2006/main">
            <a:pPr algn="l">
              <a:buNone/>
              <a:defRPr sz="7500" b="1">
                <a:solidFill>
                  <a:srgbClr val="007E87"/>
                </a:solidFill>
                <a:latin typeface="Arial"/>
                <a:ea typeface="Arial"/>
                <a:cs typeface="Arial"/>
              </a:defRPr>
            </a:pPr>
            <a:r>
              <a:rPr sz="7500" b="1">
                <a:solidFill>
                  <a:srgbClr val="007E87"/>
                </a:solidFill>
                <a:latin typeface="Arial"/>
                <a:ea typeface="Arial"/>
                <a:cs typeface="Arial"/>
              </a:rPr>
              <a:t>900</a:t>
            </a:r>
          </a:p>
        </p:txBody>
      </p:sp>
      <p:sp>
        <p:nvSpPr>
          <p:cNvPr id="4" name="planned trials">
            <a:extLst xmlns:a="http://schemas.openxmlformats.org/drawingml/2006/main">
              <a:ext uri="{FF2B5EF4-FFF2-40B4-BE49-F238E27FC236}">
                <a16:creationId xmlns:a16="http://schemas.microsoft.com/office/drawing/2014/main" id="{46192FEE-7D8C-437D-9096-A3DC918321F4}"/>
              </a:ext>
            </a:extLst>
          </p:cNvPr>
          <p:cNvSpPr>
            <a:spLocks xmlns:a="http://schemas.openxmlformats.org/drawingml/2006/main" noGrp="1"/>
          </p:cNvSpPr>
          <p:nvPr/>
        </p:nvSpPr>
        <p:spPr>
          <a:xfrm xmlns:a="http://schemas.openxmlformats.org/drawingml/2006/main">
            <a:off x="685800" y="27622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buNone/>
              <a:defRPr sz="2400" b="0">
                <a:solidFill>
                  <a:srgbClr val="173247"/>
                </a:solidFill>
                <a:latin typeface="Arial"/>
                <a:ea typeface="Arial"/>
                <a:cs typeface="Arial"/>
              </a:defRPr>
            </a:lvl1pPr>
            <a:lvl2pPr algn="l">
              <a:buNone/>
              <a:defRPr sz="2400" b="0">
                <a:solidFill>
                  <a:srgbClr val="173247"/>
                </a:solidFill>
                <a:latin typeface="Arial"/>
                <a:ea typeface="Arial"/>
                <a:cs typeface="Arial"/>
              </a:defRPr>
            </a:lvl2pPr>
            <a:lvl3pPr algn="l">
              <a:buNone/>
              <a:defRPr sz="2400" b="0">
                <a:solidFill>
                  <a:srgbClr val="173247"/>
                </a:solidFill>
                <a:latin typeface="Arial"/>
                <a:ea typeface="Arial"/>
                <a:cs typeface="Arial"/>
              </a:defRPr>
            </a:lvl3pPr>
            <a:lvl4pPr algn="l">
              <a:buNone/>
              <a:defRPr sz="2400" b="0">
                <a:solidFill>
                  <a:srgbClr val="173247"/>
                </a:solidFill>
                <a:latin typeface="Arial"/>
                <a:ea typeface="Arial"/>
                <a:cs typeface="Arial"/>
              </a:defRPr>
            </a:lvl4pPr>
            <a:lvl5pPr algn="l">
              <a:buNone/>
              <a:defRPr sz="2400" b="0">
                <a:solidFill>
                  <a:srgbClr val="173247"/>
                </a:solidFill>
                <a:latin typeface="Arial"/>
                <a:ea typeface="Arial"/>
                <a:cs typeface="Arial"/>
              </a:defRPr>
            </a:lvl5pPr>
            <a:lvl6pPr algn="l">
              <a:buNone/>
              <a:defRPr sz="2400" b="0">
                <a:solidFill>
                  <a:srgbClr val="173247"/>
                </a:solidFill>
                <a:latin typeface="Arial"/>
                <a:ea typeface="Arial"/>
                <a:cs typeface="Arial"/>
              </a:defRPr>
            </a:lvl6pPr>
            <a:lvl7pPr algn="l">
              <a:buNone/>
              <a:defRPr sz="2400" b="0">
                <a:solidFill>
                  <a:srgbClr val="173247"/>
                </a:solidFill>
                <a:latin typeface="Arial"/>
                <a:ea typeface="Arial"/>
                <a:cs typeface="Arial"/>
              </a:defRPr>
            </a:lvl7pPr>
            <a:lvl8pPr algn="l">
              <a:buNone/>
              <a:defRPr sz="2400" b="0">
                <a:solidFill>
                  <a:srgbClr val="173247"/>
                </a:solidFill>
                <a:latin typeface="Arial"/>
                <a:ea typeface="Arial"/>
                <a:cs typeface="Arial"/>
              </a:defRPr>
            </a:lvl8pPr>
            <a:lvl9pPr algn="l">
              <a:buNone/>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validated trials</a:t>
            </a:r>
          </a:p>
        </p:txBody>
      </p:sp>
      <p:sp>
        <p:nvSpPr>
          <p:cNvPr id="5" name="5 topologies&#10;2 communication modes&#10;3 link del">
            <a:extLst xmlns:a="http://schemas.openxmlformats.org/drawingml/2006/main">
              <a:ext uri="{FF2B5EF4-FFF2-40B4-BE49-F238E27FC236}">
                <a16:creationId xmlns:a16="http://schemas.microsoft.com/office/drawing/2014/main" id="{F3D73590-09D8-4825-87C6-CF96103B4D67}"/>
              </a:ext>
            </a:extLst>
          </p:cNvPr>
          <p:cNvSpPr>
            <a:spLocks xmlns:a="http://schemas.openxmlformats.org/drawingml/2006/main" noGrp="1"/>
          </p:cNvSpPr>
          <p:nvPr/>
        </p:nvSpPr>
        <p:spPr>
          <a:xfrm xmlns:a="http://schemas.openxmlformats.org/drawingml/2006/main">
            <a:off x="685800" y="3524250"/>
            <a:ext cx="3810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5 topologies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2 communication modes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 link delays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30 repetitions</a:t>
            </a:r>
          </a:p>
        </p:txBody>
      </p:sp>
      <p:sp>
        <p:nvSpPr>
          <p:cNvPr id="6" name="HashiCorp Raft in Mininet">
            <a:extLst xmlns:a="http://schemas.openxmlformats.org/drawingml/2006/main">
              <a:ext uri="{FF2B5EF4-FFF2-40B4-BE49-F238E27FC236}">
                <a16:creationId xmlns:a16="http://schemas.microsoft.com/office/drawing/2014/main" id="{9770D467-667B-4181-B5CA-38B638D57304}"/>
              </a:ext>
            </a:extLst>
          </p:cNvPr>
          <p:cNvSpPr>
            <a:spLocks xmlns:a="http://schemas.openxmlformats.org/drawingml/2006/main" noGrp="1"/>
          </p:cNvSpPr>
          <p:nvPr/>
        </p:nvSpPr>
        <p:spPr>
          <a:xfrm xmlns:a="http://schemas.openxmlformats.org/drawingml/2006/main">
            <a:off x="5295900" y="1704975"/>
            <a:ext cx="6210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3247"/>
                </a:solidFill>
                <a:latin typeface="Arial"/>
                <a:ea typeface="Arial"/>
                <a:cs typeface="Arial"/>
              </a:defRPr>
            </a:defPPr>
            <a:lvl1pPr algn="l">
              <a:buNone/>
              <a:defRPr sz="2400" b="1">
                <a:solidFill>
                  <a:srgbClr val="173247"/>
                </a:solidFill>
                <a:latin typeface="Arial"/>
                <a:ea typeface="Arial"/>
                <a:cs typeface="Arial"/>
              </a:defRPr>
            </a:lvl1pPr>
            <a:lvl2pPr algn="l">
              <a:buNone/>
              <a:defRPr sz="2400" b="1">
                <a:solidFill>
                  <a:srgbClr val="173247"/>
                </a:solidFill>
                <a:latin typeface="Arial"/>
                <a:ea typeface="Arial"/>
                <a:cs typeface="Arial"/>
              </a:defRPr>
            </a:lvl2pPr>
            <a:lvl3pPr algn="l">
              <a:buNone/>
              <a:defRPr sz="2400" b="1">
                <a:solidFill>
                  <a:srgbClr val="173247"/>
                </a:solidFill>
                <a:latin typeface="Arial"/>
                <a:ea typeface="Arial"/>
                <a:cs typeface="Arial"/>
              </a:defRPr>
            </a:lvl3pPr>
            <a:lvl4pPr algn="l">
              <a:buNone/>
              <a:defRPr sz="2400" b="1">
                <a:solidFill>
                  <a:srgbClr val="173247"/>
                </a:solidFill>
                <a:latin typeface="Arial"/>
                <a:ea typeface="Arial"/>
                <a:cs typeface="Arial"/>
              </a:defRPr>
            </a:lvl4pPr>
            <a:lvl5pPr algn="l">
              <a:buNone/>
              <a:defRPr sz="2400" b="1">
                <a:solidFill>
                  <a:srgbClr val="173247"/>
                </a:solidFill>
                <a:latin typeface="Arial"/>
                <a:ea typeface="Arial"/>
                <a:cs typeface="Arial"/>
              </a:defRPr>
            </a:lvl5pPr>
            <a:lvl6pPr algn="l">
              <a:buNone/>
              <a:defRPr sz="2400" b="1">
                <a:solidFill>
                  <a:srgbClr val="173247"/>
                </a:solidFill>
                <a:latin typeface="Arial"/>
                <a:ea typeface="Arial"/>
                <a:cs typeface="Arial"/>
              </a:defRPr>
            </a:lvl6pPr>
            <a:lvl7pPr algn="l">
              <a:buNone/>
              <a:defRPr sz="2400" b="1">
                <a:solidFill>
                  <a:srgbClr val="173247"/>
                </a:solidFill>
                <a:latin typeface="Arial"/>
                <a:ea typeface="Arial"/>
                <a:cs typeface="Arial"/>
              </a:defRPr>
            </a:lvl7pPr>
            <a:lvl8pPr algn="l">
              <a:buNone/>
              <a:defRPr sz="2400" b="1">
                <a:solidFill>
                  <a:srgbClr val="173247"/>
                </a:solidFill>
                <a:latin typeface="Arial"/>
                <a:ea typeface="Arial"/>
                <a:cs typeface="Arial"/>
              </a:defRPr>
            </a:lvl8pPr>
            <a:lvl9pPr algn="l">
              <a:buNone/>
              <a:defRPr sz="2400" b="1">
                <a:solidFill>
                  <a:srgbClr val="173247"/>
                </a:solidFill>
                <a:latin typeface="Arial"/>
                <a:ea typeface="Arial"/>
                <a:cs typeface="Arial"/>
              </a:defRPr>
            </a:lvl9pPr>
          </a:lstStyle>
          <a:p xmlns:a="http://schemas.openxmlformats.org/drawingml/2006/main">
            <a:pPr algn="l">
              <a:buNone/>
              <a:defRPr sz="2400" b="1">
                <a:solidFill>
                  <a:srgbClr val="173247"/>
                </a:solidFill>
                <a:latin typeface="Arial"/>
                <a:ea typeface="Arial"/>
                <a:cs typeface="Arial"/>
              </a:defRPr>
            </a:pPr>
            <a:r>
              <a:rPr sz="2400" b="1">
                <a:solidFill>
                  <a:srgbClr val="173247"/>
                </a:solidFill>
                <a:latin typeface="Arial"/>
                <a:ea typeface="Arial"/>
                <a:cs typeface="Arial"/>
              </a:rPr>
              <a:t>HashiCorp Raft in Mininet</a:t>
            </a:r>
          </a:p>
        </p:txBody>
      </p:sp>
      <p:sp>
        <p:nvSpPr>
          <p:cNvPr id="7" name="Direct links vs. preconfigured forwarding">
            <a:extLst xmlns:a="http://schemas.openxmlformats.org/drawingml/2006/main">
              <a:ext uri="{FF2B5EF4-FFF2-40B4-BE49-F238E27FC236}">
                <a16:creationId xmlns:a16="http://schemas.microsoft.com/office/drawing/2014/main" id="{A10617E0-E92E-4A05-A33F-3096909496EE}"/>
              </a:ext>
            </a:extLst>
          </p:cNvPr>
          <p:cNvSpPr>
            <a:spLocks xmlns:a="http://schemas.openxmlformats.org/drawingml/2006/main" noGrp="1"/>
          </p:cNvSpPr>
          <p:nvPr/>
        </p:nvSpPr>
        <p:spPr>
          <a:xfrm xmlns:a="http://schemas.openxmlformats.org/drawingml/2006/main">
            <a:off x="5295900" y="23717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Direct links vs. preconfigured forwarding</a:t>
            </a:r>
          </a:p>
        </p:txBody>
      </p:sp>
      <p:sp>
        <p:nvSpPr>
          <p:cNvPr id="8" name="Link delay: 0.5, 5 or 20 ms&#10;Heartbeat: 10 ms">
            <a:extLst xmlns:a="http://schemas.openxmlformats.org/drawingml/2006/main">
              <a:ext uri="{FF2B5EF4-FFF2-40B4-BE49-F238E27FC236}">
                <a16:creationId xmlns:a16="http://schemas.microsoft.com/office/drawing/2014/main" id="{D7BC9ED1-9E70-459B-A7EF-E96FCA206C29}"/>
              </a:ext>
            </a:extLst>
          </p:cNvPr>
          <p:cNvSpPr>
            <a:spLocks xmlns:a="http://schemas.openxmlformats.org/drawingml/2006/main" noGrp="1"/>
          </p:cNvSpPr>
          <p:nvPr/>
        </p:nvSpPr>
        <p:spPr>
          <a:xfrm xmlns:a="http://schemas.openxmlformats.org/drawingml/2006/main">
            <a:off x="5295900" y="3038475"/>
            <a:ext cx="6210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buNone/>
              <a:defRPr sz="2025" b="0">
                <a:solidFill>
                  <a:srgbClr val="173247"/>
                </a:solidFill>
                <a:latin typeface="Arial"/>
                <a:ea typeface="Arial"/>
                <a:cs typeface="Arial"/>
              </a:defRPr>
            </a:lvl1pPr>
            <a:lvl2pPr algn="l">
              <a:buNone/>
              <a:defRPr sz="2025" b="0">
                <a:solidFill>
                  <a:srgbClr val="173247"/>
                </a:solidFill>
                <a:latin typeface="Arial"/>
                <a:ea typeface="Arial"/>
                <a:cs typeface="Arial"/>
              </a:defRPr>
            </a:lvl2pPr>
            <a:lvl3pPr algn="l">
              <a:buNone/>
              <a:defRPr sz="2025" b="0">
                <a:solidFill>
                  <a:srgbClr val="173247"/>
                </a:solidFill>
                <a:latin typeface="Arial"/>
                <a:ea typeface="Arial"/>
                <a:cs typeface="Arial"/>
              </a:defRPr>
            </a:lvl3pPr>
            <a:lvl4pPr algn="l">
              <a:buNone/>
              <a:defRPr sz="2025" b="0">
                <a:solidFill>
                  <a:srgbClr val="173247"/>
                </a:solidFill>
                <a:latin typeface="Arial"/>
                <a:ea typeface="Arial"/>
                <a:cs typeface="Arial"/>
              </a:defRPr>
            </a:lvl4pPr>
            <a:lvl5pPr algn="l">
              <a:buNone/>
              <a:defRPr sz="2025" b="0">
                <a:solidFill>
                  <a:srgbClr val="173247"/>
                </a:solidFill>
                <a:latin typeface="Arial"/>
                <a:ea typeface="Arial"/>
                <a:cs typeface="Arial"/>
              </a:defRPr>
            </a:lvl5pPr>
            <a:lvl6pPr algn="l">
              <a:buNone/>
              <a:defRPr sz="2025" b="0">
                <a:solidFill>
                  <a:srgbClr val="173247"/>
                </a:solidFill>
                <a:latin typeface="Arial"/>
                <a:ea typeface="Arial"/>
                <a:cs typeface="Arial"/>
              </a:defRPr>
            </a:lvl6pPr>
            <a:lvl7pPr algn="l">
              <a:buNone/>
              <a:defRPr sz="2025" b="0">
                <a:solidFill>
                  <a:srgbClr val="173247"/>
                </a:solidFill>
                <a:latin typeface="Arial"/>
                <a:ea typeface="Arial"/>
                <a:cs typeface="Arial"/>
              </a:defRPr>
            </a:lvl7pPr>
            <a:lvl8pPr algn="l">
              <a:buNone/>
              <a:defRPr sz="2025" b="0">
                <a:solidFill>
                  <a:srgbClr val="173247"/>
                </a:solidFill>
                <a:latin typeface="Arial"/>
                <a:ea typeface="Arial"/>
                <a:cs typeface="Arial"/>
              </a:defRPr>
            </a:lvl8pPr>
            <a:lvl9pPr algn="l">
              <a:buNone/>
              <a:defRPr sz="2025" b="0">
                <a:solidFill>
                  <a:srgbClr val="173247"/>
                </a:solidFill>
                <a:latin typeface="Arial"/>
                <a:ea typeface="Arial"/>
                <a:cs typeface="Arial"/>
              </a:defRPr>
            </a:lvl9pPr>
          </a:lstStyle>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Link delay: 0.5, 5 or 20 ms</a:t>
            </a:r>
          </a:p>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Heartbeat timeout: 500 ms</a:t>
            </a:r>
          </a:p>
        </p:txBody>
      </p:sp>
      <p:sp>
        <p:nvSpPr>
          <p:cNvPr id="9" name="100 requests/s, 64-byte payloads">
            <a:extLst xmlns:a="http://schemas.openxmlformats.org/drawingml/2006/main">
              <a:ext uri="{FF2B5EF4-FFF2-40B4-BE49-F238E27FC236}">
                <a16:creationId xmlns:a16="http://schemas.microsoft.com/office/drawing/2014/main" id="{56315BCD-9FD3-4345-B89F-1EB039424B62}"/>
              </a:ext>
            </a:extLst>
          </p:cNvPr>
          <p:cNvSpPr>
            <a:spLocks xmlns:a="http://schemas.openxmlformats.org/drawingml/2006/main" noGrp="1"/>
          </p:cNvSpPr>
          <p:nvPr/>
        </p:nvSpPr>
        <p:spPr>
          <a:xfrm xmlns:a="http://schemas.openxmlformats.org/drawingml/2006/main">
            <a:off x="5295900" y="40862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100 requests/s, 64-byte payloads</a:t>
            </a:r>
          </a:p>
        </p:txBody>
      </p:sp>
      <p:sp>
        <p:nvSpPr>
          <p:cNvPr id="10" name="30 s warm-up, cut links, 30 s observation">
            <a:extLst xmlns:a="http://schemas.openxmlformats.org/drawingml/2006/main">
              <a:ext uri="{FF2B5EF4-FFF2-40B4-BE49-F238E27FC236}">
                <a16:creationId xmlns:a16="http://schemas.microsoft.com/office/drawing/2014/main" id="{B290E8D4-1DBE-461C-B345-748C34DC07A3}"/>
              </a:ext>
            </a:extLst>
          </p:cNvPr>
          <p:cNvSpPr>
            <a:spLocks xmlns:a="http://schemas.openxmlformats.org/drawingml/2006/main" noGrp="1"/>
          </p:cNvSpPr>
          <p:nvPr/>
        </p:nvSpPr>
        <p:spPr>
          <a:xfrm xmlns:a="http://schemas.openxmlformats.org/drawingml/2006/main">
            <a:off x="5295900" y="4791075"/>
            <a:ext cx="621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buNone/>
              <a:defRPr sz="1875" b="0">
                <a:solidFill>
                  <a:srgbClr val="007E87"/>
                </a:solidFill>
                <a:latin typeface="Arial"/>
                <a:ea typeface="Arial"/>
                <a:cs typeface="Arial"/>
              </a:defRPr>
            </a:lvl1pPr>
            <a:lvl2pPr algn="l">
              <a:buNone/>
              <a:defRPr sz="1875" b="0">
                <a:solidFill>
                  <a:srgbClr val="007E87"/>
                </a:solidFill>
                <a:latin typeface="Arial"/>
                <a:ea typeface="Arial"/>
                <a:cs typeface="Arial"/>
              </a:defRPr>
            </a:lvl2pPr>
            <a:lvl3pPr algn="l">
              <a:buNone/>
              <a:defRPr sz="1875" b="0">
                <a:solidFill>
                  <a:srgbClr val="007E87"/>
                </a:solidFill>
                <a:latin typeface="Arial"/>
                <a:ea typeface="Arial"/>
                <a:cs typeface="Arial"/>
              </a:defRPr>
            </a:lvl3pPr>
            <a:lvl4pPr algn="l">
              <a:buNone/>
              <a:defRPr sz="1875" b="0">
                <a:solidFill>
                  <a:srgbClr val="007E87"/>
                </a:solidFill>
                <a:latin typeface="Arial"/>
                <a:ea typeface="Arial"/>
                <a:cs typeface="Arial"/>
              </a:defRPr>
            </a:lvl4pPr>
            <a:lvl5pPr algn="l">
              <a:buNone/>
              <a:defRPr sz="1875" b="0">
                <a:solidFill>
                  <a:srgbClr val="007E87"/>
                </a:solidFill>
                <a:latin typeface="Arial"/>
                <a:ea typeface="Arial"/>
                <a:cs typeface="Arial"/>
              </a:defRPr>
            </a:lvl5pPr>
            <a:lvl6pPr algn="l">
              <a:buNone/>
              <a:defRPr sz="1875" b="0">
                <a:solidFill>
                  <a:srgbClr val="007E87"/>
                </a:solidFill>
                <a:latin typeface="Arial"/>
                <a:ea typeface="Arial"/>
                <a:cs typeface="Arial"/>
              </a:defRPr>
            </a:lvl6pPr>
            <a:lvl7pPr algn="l">
              <a:buNone/>
              <a:defRPr sz="1875" b="0">
                <a:solidFill>
                  <a:srgbClr val="007E87"/>
                </a:solidFill>
                <a:latin typeface="Arial"/>
                <a:ea typeface="Arial"/>
                <a:cs typeface="Arial"/>
              </a:defRPr>
            </a:lvl7pPr>
            <a:lvl8pPr algn="l">
              <a:buNone/>
              <a:defRPr sz="1875" b="0">
                <a:solidFill>
                  <a:srgbClr val="007E87"/>
                </a:solidFill>
                <a:latin typeface="Arial"/>
                <a:ea typeface="Arial"/>
                <a:cs typeface="Arial"/>
              </a:defRPr>
            </a:lvl8pPr>
            <a:lvl9pPr algn="l">
              <a:buNone/>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30 s warm-up, cut links, observe 30 s</a:t>
            </a:r>
          </a:p>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T3: reseed and restart after injection</a:t>
            </a:r>
          </a:p>
        </p:txBody>
      </p:sp>
      <p:sp>
        <p:nvSpPr>
          <p:cNvPr id="11" name="607 valid runs. Primary comparisons use 0.5 m">
            <a:extLst xmlns:a="http://schemas.openxmlformats.org/drawingml/2006/main">
              <a:ext uri="{FF2B5EF4-FFF2-40B4-BE49-F238E27FC236}">
                <a16:creationId xmlns:a16="http://schemas.microsoft.com/office/drawing/2014/main" id="{A123D50F-9630-4E96-B0CE-F00DB471ACC0}"/>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buNone/>
              <a:defRPr sz="1875" b="0">
                <a:solidFill>
                  <a:srgbClr val="556570"/>
                </a:solidFill>
                <a:latin typeface="Arial"/>
                <a:ea typeface="Arial"/>
                <a:cs typeface="Arial"/>
              </a:defRPr>
            </a:lvl1pPr>
            <a:lvl2pPr algn="l">
              <a:buNone/>
              <a:defRPr sz="1875" b="0">
                <a:solidFill>
                  <a:srgbClr val="556570"/>
                </a:solidFill>
                <a:latin typeface="Arial"/>
                <a:ea typeface="Arial"/>
                <a:cs typeface="Arial"/>
              </a:defRPr>
            </a:lvl2pPr>
            <a:lvl3pPr algn="l">
              <a:buNone/>
              <a:defRPr sz="1875" b="0">
                <a:solidFill>
                  <a:srgbClr val="556570"/>
                </a:solidFill>
                <a:latin typeface="Arial"/>
                <a:ea typeface="Arial"/>
                <a:cs typeface="Arial"/>
              </a:defRPr>
            </a:lvl3pPr>
            <a:lvl4pPr algn="l">
              <a:buNone/>
              <a:defRPr sz="1875" b="0">
                <a:solidFill>
                  <a:srgbClr val="556570"/>
                </a:solidFill>
                <a:latin typeface="Arial"/>
                <a:ea typeface="Arial"/>
                <a:cs typeface="Arial"/>
              </a:defRPr>
            </a:lvl4pPr>
            <a:lvl5pPr algn="l">
              <a:buNone/>
              <a:defRPr sz="1875" b="0">
                <a:solidFill>
                  <a:srgbClr val="556570"/>
                </a:solidFill>
                <a:latin typeface="Arial"/>
                <a:ea typeface="Arial"/>
                <a:cs typeface="Arial"/>
              </a:defRPr>
            </a:lvl5pPr>
            <a:lvl6pPr algn="l">
              <a:buNone/>
              <a:defRPr sz="1875" b="0">
                <a:solidFill>
                  <a:srgbClr val="556570"/>
                </a:solidFill>
                <a:latin typeface="Arial"/>
                <a:ea typeface="Arial"/>
                <a:cs typeface="Arial"/>
              </a:defRPr>
            </a:lvl6pPr>
            <a:lvl7pPr algn="l">
              <a:buNone/>
              <a:defRPr sz="1875" b="0">
                <a:solidFill>
                  <a:srgbClr val="556570"/>
                </a:solidFill>
                <a:latin typeface="Arial"/>
                <a:ea typeface="Arial"/>
                <a:cs typeface="Arial"/>
              </a:defRPr>
            </a:lvl7pPr>
            <a:lvl8pPr algn="l">
              <a:buNone/>
              <a:defRPr sz="1875" b="0">
                <a:solidFill>
                  <a:srgbClr val="556570"/>
                </a:solidFill>
                <a:latin typeface="Arial"/>
                <a:ea typeface="Arial"/>
                <a:cs typeface="Arial"/>
              </a:defRPr>
            </a:lvl8pPr>
            <a:lvl9pPr algn="l">
              <a:buNone/>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All 900 trials validated across the complete delay matrix.</a:t>
            </a:r>
          </a:p>
        </p:txBody>
      </p:sp>
    </p:spTree>
    <p:extLst>
      <p:ext uri="{BB962C8B-B14F-4D97-AF65-F5344CB8AC3E}">
        <p14:creationId xmlns:p14="http://schemas.microsoft.com/office/powerpoint/2010/main" val="18345093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lide-number">
            <a:extLst xmlns:a="http://schemas.openxmlformats.org/drawingml/2006/main">
              <a:ext uri="{FF2B5EF4-FFF2-40B4-BE49-F238E27FC236}">
                <a16:creationId xmlns:a16="http://schemas.microsoft.com/office/drawing/2014/main" id="{8260F5E6-3289-4D3F-B268-2D1E32A3F302}"/>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buNone/>
              <a:defRPr sz="1500" b="0">
                <a:solidFill>
                  <a:srgbClr val="556570"/>
                </a:solidFill>
                <a:latin typeface="Arial"/>
                <a:ea typeface="Arial"/>
                <a:cs typeface="Arial"/>
              </a:defRPr>
            </a:lvl1pPr>
            <a:lvl2pPr algn="r">
              <a:buNone/>
              <a:defRPr sz="1500" b="0">
                <a:solidFill>
                  <a:srgbClr val="556570"/>
                </a:solidFill>
                <a:latin typeface="Arial"/>
                <a:ea typeface="Arial"/>
                <a:cs typeface="Arial"/>
              </a:defRPr>
            </a:lvl2pPr>
            <a:lvl3pPr algn="r">
              <a:buNone/>
              <a:defRPr sz="1500" b="0">
                <a:solidFill>
                  <a:srgbClr val="556570"/>
                </a:solidFill>
                <a:latin typeface="Arial"/>
                <a:ea typeface="Arial"/>
                <a:cs typeface="Arial"/>
              </a:defRPr>
            </a:lvl3pPr>
            <a:lvl4pPr algn="r">
              <a:buNone/>
              <a:defRPr sz="1500" b="0">
                <a:solidFill>
                  <a:srgbClr val="556570"/>
                </a:solidFill>
                <a:latin typeface="Arial"/>
                <a:ea typeface="Arial"/>
                <a:cs typeface="Arial"/>
              </a:defRPr>
            </a:lvl4pPr>
            <a:lvl5pPr algn="r">
              <a:buNone/>
              <a:defRPr sz="1500" b="0">
                <a:solidFill>
                  <a:srgbClr val="556570"/>
                </a:solidFill>
                <a:latin typeface="Arial"/>
                <a:ea typeface="Arial"/>
                <a:cs typeface="Arial"/>
              </a:defRPr>
            </a:lvl5pPr>
            <a:lvl6pPr algn="r">
              <a:buNone/>
              <a:defRPr sz="1500" b="0">
                <a:solidFill>
                  <a:srgbClr val="556570"/>
                </a:solidFill>
                <a:latin typeface="Arial"/>
                <a:ea typeface="Arial"/>
                <a:cs typeface="Arial"/>
              </a:defRPr>
            </a:lvl6pPr>
            <a:lvl7pPr algn="r">
              <a:buNone/>
              <a:defRPr sz="1500" b="0">
                <a:solidFill>
                  <a:srgbClr val="556570"/>
                </a:solidFill>
                <a:latin typeface="Arial"/>
                <a:ea typeface="Arial"/>
                <a:cs typeface="Arial"/>
              </a:defRPr>
            </a:lvl7pPr>
            <a:lvl8pPr algn="r">
              <a:buNone/>
              <a:defRPr sz="1500" b="0">
                <a:solidFill>
                  <a:srgbClr val="556570"/>
                </a:solidFill>
                <a:latin typeface="Arial"/>
                <a:ea typeface="Arial"/>
                <a:cs typeface="Arial"/>
              </a:defRPr>
            </a:lvl8pPr>
            <a:lvl9pPr algn="r">
              <a:buNone/>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5 / 10</a:t>
            </a:r>
          </a:p>
        </p:txBody>
      </p:sp>
      <p:sp>
        <p:nvSpPr>
          <p:cNvPr id="3" name="Network configurations T0–T4">
            <a:extLst xmlns:a="http://schemas.openxmlformats.org/drawingml/2006/main">
              <a:ext uri="{FF2B5EF4-FFF2-40B4-BE49-F238E27FC236}">
                <a16:creationId xmlns:a16="http://schemas.microsoft.com/office/drawing/2014/main" id="{7652F4A5-4160-42C9-964A-65C9A4E5C06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buNone/>
              <a:defRPr sz="3300" b="1">
                <a:solidFill>
                  <a:srgbClr val="173247"/>
                </a:solidFill>
                <a:latin typeface="Arial"/>
                <a:ea typeface="Arial"/>
                <a:cs typeface="Arial"/>
              </a:defRPr>
            </a:lvl1pPr>
            <a:lvl2pPr algn="l">
              <a:buNone/>
              <a:defRPr sz="3300" b="1">
                <a:solidFill>
                  <a:srgbClr val="173247"/>
                </a:solidFill>
                <a:latin typeface="Arial"/>
                <a:ea typeface="Arial"/>
                <a:cs typeface="Arial"/>
              </a:defRPr>
            </a:lvl2pPr>
            <a:lvl3pPr algn="l">
              <a:buNone/>
              <a:defRPr sz="3300" b="1">
                <a:solidFill>
                  <a:srgbClr val="173247"/>
                </a:solidFill>
                <a:latin typeface="Arial"/>
                <a:ea typeface="Arial"/>
                <a:cs typeface="Arial"/>
              </a:defRPr>
            </a:lvl3pPr>
            <a:lvl4pPr algn="l">
              <a:buNone/>
              <a:defRPr sz="3300" b="1">
                <a:solidFill>
                  <a:srgbClr val="173247"/>
                </a:solidFill>
                <a:latin typeface="Arial"/>
                <a:ea typeface="Arial"/>
                <a:cs typeface="Arial"/>
              </a:defRPr>
            </a:lvl4pPr>
            <a:lvl5pPr algn="l">
              <a:buNone/>
              <a:defRPr sz="3300" b="1">
                <a:solidFill>
                  <a:srgbClr val="173247"/>
                </a:solidFill>
                <a:latin typeface="Arial"/>
                <a:ea typeface="Arial"/>
                <a:cs typeface="Arial"/>
              </a:defRPr>
            </a:lvl5pPr>
            <a:lvl6pPr algn="l">
              <a:buNone/>
              <a:defRPr sz="3300" b="1">
                <a:solidFill>
                  <a:srgbClr val="173247"/>
                </a:solidFill>
                <a:latin typeface="Arial"/>
                <a:ea typeface="Arial"/>
                <a:cs typeface="Arial"/>
              </a:defRPr>
            </a:lvl6pPr>
            <a:lvl7pPr algn="l">
              <a:buNone/>
              <a:defRPr sz="3300" b="1">
                <a:solidFill>
                  <a:srgbClr val="173247"/>
                </a:solidFill>
                <a:latin typeface="Arial"/>
                <a:ea typeface="Arial"/>
                <a:cs typeface="Arial"/>
              </a:defRPr>
            </a:lvl7pPr>
            <a:lvl8pPr algn="l">
              <a:buNone/>
              <a:defRPr sz="3300" b="1">
                <a:solidFill>
                  <a:srgbClr val="173247"/>
                </a:solidFill>
                <a:latin typeface="Arial"/>
                <a:ea typeface="Arial"/>
                <a:cs typeface="Arial"/>
              </a:defRPr>
            </a:lvl8pPr>
            <a:lvl9pPr algn="l">
              <a:buNone/>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Network configurations</a:t>
            </a:r>
          </a:p>
        </p:txBody>
      </p:sp>
      <p:sp>
        <p:nvSpPr>
          <p:cNvPr id="5" name="T0">
            <a:extLst xmlns:a="http://schemas.openxmlformats.org/drawingml/2006/main">
              <a:ext uri="{FF2B5EF4-FFF2-40B4-BE49-F238E27FC236}">
                <a16:creationId xmlns:a16="http://schemas.microsoft.com/office/drawing/2014/main" id="{18E10180-33F2-4D5B-93F2-FB7FE53BFE43}"/>
              </a:ext>
            </a:extLst>
          </p:cNvPr>
          <p:cNvSpPr>
            <a:spLocks xmlns:a="http://schemas.openxmlformats.org/drawingml/2006/main" noGrp="1"/>
          </p:cNvSpPr>
          <p:nvPr/>
        </p:nvSpPr>
        <p:spPr>
          <a:xfrm xmlns:a="http://schemas.openxmlformats.org/drawingml/2006/main">
            <a:off x="6858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T0</a:t>
            </a:r>
          </a:p>
        </p:txBody>
      </p:sp>
      <p:sp>
        <p:nvSpPr>
          <p:cNvPr id="6" name="Healthy network">
            <a:extLst xmlns:a="http://schemas.openxmlformats.org/drawingml/2006/main">
              <a:ext uri="{FF2B5EF4-FFF2-40B4-BE49-F238E27FC236}">
                <a16:creationId xmlns:a16="http://schemas.microsoft.com/office/drawing/2014/main" id="{DB00001A-EB7D-4C0B-A716-72660E6661F7}"/>
              </a:ext>
            </a:extLst>
          </p:cNvPr>
          <p:cNvSpPr>
            <a:spLocks xmlns:a="http://schemas.openxmlformats.org/drawingml/2006/main" noGrp="1"/>
          </p:cNvSpPr>
          <p:nvPr/>
        </p:nvSpPr>
        <p:spPr>
          <a:xfrm xmlns:a="http://schemas.openxmlformats.org/drawingml/2006/main">
            <a:off x="6858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Healthy</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network</a:t>
            </a:r>
          </a:p>
        </p:txBody>
      </p:sp>
      <p:pic>
        <p:nvPicPr>
          <p:cNvPr id="7" name="">
            <a:extLst xmlns:a="http://schemas.openxmlformats.org/drawingml/2006/main">
              <a:ext uri="{FF2B5EF4-FFF2-40B4-BE49-F238E27FC236}">
                <a16:creationId xmlns:a16="http://schemas.microsoft.com/office/drawing/2014/main" id="{05CABED2-D16E-46F8-A41C-782F941C15BB}"/>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19808" t="21233" r="71346" b="63014"/>
          <a:stretch xmlns:a="http://schemas.openxmlformats.org/drawingml/2006/main"/>
        </p:blipFill>
        <p:spPr>
          <a:xfrm xmlns:a="http://schemas.openxmlformats.org/drawingml/2006/main">
            <a:off x="771525" y="3162300"/>
            <a:ext cx="1809750" cy="1809750"/>
          </a:xfrm>
          <a:prstGeom xmlns:a="http://schemas.openxmlformats.org/drawingml/2006/main" prst="rect">
            <a:avLst/>
          </a:prstGeom>
        </p:spPr>
      </p:pic>
      <p:sp>
        <p:nvSpPr>
          <p:cNvPr id="8" name="All direct links work">
            <a:extLst xmlns:a="http://schemas.openxmlformats.org/drawingml/2006/main">
              <a:ext uri="{FF2B5EF4-FFF2-40B4-BE49-F238E27FC236}">
                <a16:creationId xmlns:a16="http://schemas.microsoft.com/office/drawing/2014/main" id="{1DCC91B6-01D7-45A5-AFFB-164A80BC1ECB}"/>
              </a:ext>
            </a:extLst>
          </p:cNvPr>
          <p:cNvSpPr>
            <a:spLocks xmlns:a="http://schemas.openxmlformats.org/drawingml/2006/main" noGrp="1"/>
          </p:cNvSpPr>
          <p:nvPr/>
        </p:nvSpPr>
        <p:spPr>
          <a:xfrm xmlns:a="http://schemas.openxmlformats.org/drawingml/2006/main">
            <a:off x="6858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All direct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links work</a:t>
            </a:r>
          </a:p>
        </p:txBody>
      </p:sp>
      <p:sp>
        <p:nvSpPr>
          <p:cNvPr id="9" name="T1">
            <a:extLst xmlns:a="http://schemas.openxmlformats.org/drawingml/2006/main">
              <a:ext uri="{FF2B5EF4-FFF2-40B4-BE49-F238E27FC236}">
                <a16:creationId xmlns:a16="http://schemas.microsoft.com/office/drawing/2014/main" id="{A98827F3-E69D-4F12-B856-B96E3D89920B}"/>
              </a:ext>
            </a:extLst>
          </p:cNvPr>
          <p:cNvSpPr>
            <a:spLocks xmlns:a="http://schemas.openxmlformats.org/drawingml/2006/main" noGrp="1"/>
          </p:cNvSpPr>
          <p:nvPr/>
        </p:nvSpPr>
        <p:spPr>
          <a:xfrm xmlns:a="http://schemas.openxmlformats.org/drawingml/2006/main">
            <a:off x="28956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T1</a:t>
            </a:r>
          </a:p>
        </p:txBody>
      </p:sp>
      <p:sp>
        <p:nvSpPr>
          <p:cNvPr id="10" name="Non-critical cut">
            <a:extLst xmlns:a="http://schemas.openxmlformats.org/drawingml/2006/main">
              <a:ext uri="{FF2B5EF4-FFF2-40B4-BE49-F238E27FC236}">
                <a16:creationId xmlns:a16="http://schemas.microsoft.com/office/drawing/2014/main" id="{7E630530-FF85-4885-8339-8B6F3FC99E20}"/>
              </a:ext>
            </a:extLst>
          </p:cNvPr>
          <p:cNvSpPr>
            <a:spLocks xmlns:a="http://schemas.openxmlformats.org/drawingml/2006/main" noGrp="1"/>
          </p:cNvSpPr>
          <p:nvPr/>
        </p:nvSpPr>
        <p:spPr>
          <a:xfrm xmlns:a="http://schemas.openxmlformats.org/drawingml/2006/main">
            <a:off x="28956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Non-critical</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cut</a:t>
            </a:r>
          </a:p>
        </p:txBody>
      </p:sp>
      <p:pic>
        <p:nvPicPr>
          <p:cNvPr id="11" name="">
            <a:extLst xmlns:a="http://schemas.openxmlformats.org/drawingml/2006/main">
              <a:ext uri="{FF2B5EF4-FFF2-40B4-BE49-F238E27FC236}">
                <a16:creationId xmlns:a16="http://schemas.microsoft.com/office/drawing/2014/main" id="{D26F0348-5998-43C5-A914-853E376E21B8}"/>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53462" t="21233" r="37692" b="63014"/>
          <a:stretch xmlns:a="http://schemas.openxmlformats.org/drawingml/2006/main"/>
        </p:blipFill>
        <p:spPr>
          <a:xfrm xmlns:a="http://schemas.openxmlformats.org/drawingml/2006/main">
            <a:off x="2981325" y="3162300"/>
            <a:ext cx="1809750" cy="1809750"/>
          </a:xfrm>
          <a:prstGeom xmlns:a="http://schemas.openxmlformats.org/drawingml/2006/main" prst="rect">
            <a:avLst/>
          </a:prstGeom>
        </p:spPr>
      </p:pic>
      <p:sp>
        <p:nvSpPr>
          <p:cNvPr id="12" name="Direct majority remains">
            <a:extLst xmlns:a="http://schemas.openxmlformats.org/drawingml/2006/main">
              <a:ext uri="{FF2B5EF4-FFF2-40B4-BE49-F238E27FC236}">
                <a16:creationId xmlns:a16="http://schemas.microsoft.com/office/drawing/2014/main" id="{17CE4F13-26FA-46EB-B27A-F6BE9ED80A30}"/>
              </a:ext>
            </a:extLst>
          </p:cNvPr>
          <p:cNvSpPr>
            <a:spLocks xmlns:a="http://schemas.openxmlformats.org/drawingml/2006/main" noGrp="1"/>
          </p:cNvSpPr>
          <p:nvPr/>
        </p:nvSpPr>
        <p:spPr>
          <a:xfrm xmlns:a="http://schemas.openxmlformats.org/drawingml/2006/main">
            <a:off x="28956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remains</a:t>
            </a:r>
          </a:p>
        </p:txBody>
      </p:sp>
      <p:sp>
        <p:nvSpPr>
          <p:cNvPr id="13" name="T2">
            <a:extLst xmlns:a="http://schemas.openxmlformats.org/drawingml/2006/main">
              <a:ext uri="{FF2B5EF4-FFF2-40B4-BE49-F238E27FC236}">
                <a16:creationId xmlns:a16="http://schemas.microsoft.com/office/drawing/2014/main" id="{4FE4A562-9D2B-4D5E-A20C-E901ABC68730}"/>
              </a:ext>
            </a:extLst>
          </p:cNvPr>
          <p:cNvSpPr>
            <a:spLocks xmlns:a="http://schemas.openxmlformats.org/drawingml/2006/main" noGrp="1"/>
          </p:cNvSpPr>
          <p:nvPr/>
        </p:nvSpPr>
        <p:spPr>
          <a:xfrm xmlns:a="http://schemas.openxmlformats.org/drawingml/2006/main">
            <a:off x="51054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T2</a:t>
            </a:r>
          </a:p>
        </p:txBody>
      </p:sp>
      <p:sp>
        <p:nvSpPr>
          <p:cNvPr id="14" name="Quorum loss">
            <a:extLst xmlns:a="http://schemas.openxmlformats.org/drawingml/2006/main">
              <a:ext uri="{FF2B5EF4-FFF2-40B4-BE49-F238E27FC236}">
                <a16:creationId xmlns:a16="http://schemas.microsoft.com/office/drawing/2014/main" id="{F666AC56-AF0D-43DE-A344-ABA7FD31C6B4}"/>
              </a:ext>
            </a:extLst>
          </p:cNvPr>
          <p:cNvSpPr>
            <a:spLocks xmlns:a="http://schemas.openxmlformats.org/drawingml/2006/main" noGrp="1"/>
          </p:cNvSpPr>
          <p:nvPr/>
        </p:nvSpPr>
        <p:spPr>
          <a:xfrm xmlns:a="http://schemas.openxmlformats.org/drawingml/2006/main">
            <a:off x="51054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Quorum</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loss</a:t>
            </a:r>
          </a:p>
        </p:txBody>
      </p:sp>
      <p:pic>
        <p:nvPicPr>
          <p:cNvPr id="15" name="">
            <a:extLst xmlns:a="http://schemas.openxmlformats.org/drawingml/2006/main">
              <a:ext uri="{FF2B5EF4-FFF2-40B4-BE49-F238E27FC236}">
                <a16:creationId xmlns:a16="http://schemas.microsoft.com/office/drawing/2014/main" id="{9C8E2D19-403D-4CB4-B191-4A28B4FA7922}"/>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86538" t="21233" r="4615" b="63014"/>
          <a:stretch xmlns:a="http://schemas.openxmlformats.org/drawingml/2006/main"/>
        </p:blipFill>
        <p:spPr>
          <a:xfrm xmlns:a="http://schemas.openxmlformats.org/drawingml/2006/main">
            <a:off x="5191125" y="3162300"/>
            <a:ext cx="1809750" cy="1809750"/>
          </a:xfrm>
          <a:prstGeom xmlns:a="http://schemas.openxmlformats.org/drawingml/2006/main" prst="rect">
            <a:avLst/>
          </a:prstGeom>
        </p:spPr>
      </p:pic>
      <p:sp>
        <p:nvSpPr>
          <p:cNvPr id="16" name="Direct majority is lost">
            <a:extLst xmlns:a="http://schemas.openxmlformats.org/drawingml/2006/main">
              <a:ext uri="{FF2B5EF4-FFF2-40B4-BE49-F238E27FC236}">
                <a16:creationId xmlns:a16="http://schemas.microsoft.com/office/drawing/2014/main" id="{6CE299F7-44F6-4329-B475-A36073E623DF}"/>
              </a:ext>
            </a:extLst>
          </p:cNvPr>
          <p:cNvSpPr>
            <a:spLocks xmlns:a="http://schemas.openxmlformats.org/drawingml/2006/main" noGrp="1"/>
          </p:cNvSpPr>
          <p:nvPr/>
        </p:nvSpPr>
        <p:spPr>
          <a:xfrm xmlns:a="http://schemas.openxmlformats.org/drawingml/2006/main">
            <a:off x="51054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is lost</a:t>
            </a:r>
          </a:p>
        </p:txBody>
      </p:sp>
      <p:sp>
        <p:nvSpPr>
          <p:cNvPr id="17" name="T3">
            <a:extLst xmlns:a="http://schemas.openxmlformats.org/drawingml/2006/main">
              <a:ext uri="{FF2B5EF4-FFF2-40B4-BE49-F238E27FC236}">
                <a16:creationId xmlns:a16="http://schemas.microsoft.com/office/drawing/2014/main" id="{FAA1D802-6AFA-4C2A-9385-0C490C23BFD3}"/>
              </a:ext>
            </a:extLst>
          </p:cNvPr>
          <p:cNvSpPr>
            <a:spLocks xmlns:a="http://schemas.openxmlformats.org/drawingml/2006/main" noGrp="1"/>
          </p:cNvSpPr>
          <p:nvPr/>
        </p:nvSpPr>
        <p:spPr>
          <a:xfrm xmlns:a="http://schemas.openxmlformats.org/drawingml/2006/main">
            <a:off x="73152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T3</a:t>
            </a:r>
          </a:p>
        </p:txBody>
      </p:sp>
      <p:sp>
        <p:nvSpPr>
          <p:cNvPr id="18" name="Constrained election">
            <a:extLst xmlns:a="http://schemas.openxmlformats.org/drawingml/2006/main">
              <a:ext uri="{FF2B5EF4-FFF2-40B4-BE49-F238E27FC236}">
                <a16:creationId xmlns:a16="http://schemas.microsoft.com/office/drawing/2014/main" id="{45AFF04C-6A83-4C46-B1C9-1C682740D908}"/>
              </a:ext>
            </a:extLst>
          </p:cNvPr>
          <p:cNvSpPr>
            <a:spLocks xmlns:a="http://schemas.openxmlformats.org/drawingml/2006/main" noGrp="1"/>
          </p:cNvSpPr>
          <p:nvPr/>
        </p:nvSpPr>
        <p:spPr>
          <a:xfrm xmlns:a="http://schemas.openxmlformats.org/drawingml/2006/main">
            <a:off x="73152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Constrained</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election</a:t>
            </a:r>
          </a:p>
        </p:txBody>
      </p:sp>
      <p:pic>
        <p:nvPicPr>
          <p:cNvPr id="19" name="">
            <a:extLst xmlns:a="http://schemas.openxmlformats.org/drawingml/2006/main">
              <a:ext uri="{FF2B5EF4-FFF2-40B4-BE49-F238E27FC236}">
                <a16:creationId xmlns:a16="http://schemas.microsoft.com/office/drawing/2014/main" id="{36CF07D3-FBC1-40AE-BE84-B1BA0A011ABD}"/>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36538" t="63356" r="54615" b="20890"/>
          <a:stretch xmlns:a="http://schemas.openxmlformats.org/drawingml/2006/main"/>
        </p:blipFill>
        <p:spPr>
          <a:xfrm xmlns:a="http://schemas.openxmlformats.org/drawingml/2006/main">
            <a:off x="7400925" y="3162300"/>
            <a:ext cx="1809750" cy="1809750"/>
          </a:xfrm>
          <a:prstGeom xmlns:a="http://schemas.openxmlformats.org/drawingml/2006/main" prst="rect">
            <a:avLst/>
          </a:prstGeom>
        </p:spPr>
      </p:pic>
      <p:sp>
        <p:nvSpPr>
          <p:cNvPr id="20" name="A has an older log">
            <a:extLst xmlns:a="http://schemas.openxmlformats.org/drawingml/2006/main">
              <a:ext uri="{FF2B5EF4-FFF2-40B4-BE49-F238E27FC236}">
                <a16:creationId xmlns:a16="http://schemas.microsoft.com/office/drawing/2014/main" id="{737FCDEC-54C2-4648-82BC-9D4A8F52DDE5}"/>
              </a:ext>
            </a:extLst>
          </p:cNvPr>
          <p:cNvSpPr>
            <a:spLocks xmlns:a="http://schemas.openxmlformats.org/drawingml/2006/main" noGrp="1"/>
          </p:cNvSpPr>
          <p:nvPr/>
        </p:nvSpPr>
        <p:spPr>
          <a:xfrm xmlns:a="http://schemas.openxmlformats.org/drawingml/2006/main">
            <a:off x="73152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 has an</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older log</a:t>
            </a:r>
          </a:p>
        </p:txBody>
      </p:sp>
      <p:sp>
        <p:nvSpPr>
          <p:cNvPr id="21" name="T4">
            <a:extLst xmlns:a="http://schemas.openxmlformats.org/drawingml/2006/main">
              <a:ext uri="{FF2B5EF4-FFF2-40B4-BE49-F238E27FC236}">
                <a16:creationId xmlns:a16="http://schemas.microsoft.com/office/drawing/2014/main" id="{66DEE5DA-0EE0-451C-820E-A2522B3198BE}"/>
              </a:ext>
            </a:extLst>
          </p:cNvPr>
          <p:cNvSpPr>
            <a:spLocks xmlns:a="http://schemas.openxmlformats.org/drawingml/2006/main" noGrp="1"/>
          </p:cNvSpPr>
          <p:nvPr/>
        </p:nvSpPr>
        <p:spPr>
          <a:xfrm xmlns:a="http://schemas.openxmlformats.org/drawingml/2006/main">
            <a:off x="95250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T4</a:t>
            </a:r>
          </a:p>
        </p:txBody>
      </p:sp>
      <p:sp>
        <p:nvSpPr>
          <p:cNvPr id="22" name="Three-node chain">
            <a:extLst xmlns:a="http://schemas.openxmlformats.org/drawingml/2006/main">
              <a:ext uri="{FF2B5EF4-FFF2-40B4-BE49-F238E27FC236}">
                <a16:creationId xmlns:a16="http://schemas.microsoft.com/office/drawing/2014/main" id="{9C3C5BB8-35B9-4260-B7EE-3821C60065FD}"/>
              </a:ext>
            </a:extLst>
          </p:cNvPr>
          <p:cNvSpPr>
            <a:spLocks xmlns:a="http://schemas.openxmlformats.org/drawingml/2006/main" noGrp="1"/>
          </p:cNvSpPr>
          <p:nvPr/>
        </p:nvSpPr>
        <p:spPr>
          <a:xfrm xmlns:a="http://schemas.openxmlformats.org/drawingml/2006/main">
            <a:off x="95250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Three-node</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chain</a:t>
            </a:r>
          </a:p>
        </p:txBody>
      </p:sp>
      <p:pic>
        <p:nvPicPr>
          <p:cNvPr id="23" name="">
            <a:extLst xmlns:a="http://schemas.openxmlformats.org/drawingml/2006/main">
              <a:ext uri="{FF2B5EF4-FFF2-40B4-BE49-F238E27FC236}">
                <a16:creationId xmlns:a16="http://schemas.microsoft.com/office/drawing/2014/main" id="{AF7A9B3D-D560-423A-8ED2-E6F0CE9957B4}"/>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70000" t="63356" r="21154" b="20890"/>
          <a:stretch xmlns:a="http://schemas.openxmlformats.org/drawingml/2006/main"/>
        </p:blipFill>
        <p:spPr>
          <a:xfrm xmlns:a="http://schemas.openxmlformats.org/drawingml/2006/main">
            <a:off x="9610725" y="3162300"/>
            <a:ext cx="1809750" cy="1809750"/>
          </a:xfrm>
          <a:prstGeom xmlns:a="http://schemas.openxmlformats.org/drawingml/2006/main" prst="rect">
            <a:avLst/>
          </a:prstGeom>
        </p:spPr>
      </p:pic>
      <p:sp>
        <p:nvSpPr>
          <p:cNvPr id="24" name="B and C connect through A">
            <a:extLst xmlns:a="http://schemas.openxmlformats.org/drawingml/2006/main">
              <a:ext uri="{FF2B5EF4-FFF2-40B4-BE49-F238E27FC236}">
                <a16:creationId xmlns:a16="http://schemas.microsoft.com/office/drawing/2014/main" id="{58420DD6-2E82-4FBF-A70A-B63B87D31758}"/>
              </a:ext>
            </a:extLst>
          </p:cNvPr>
          <p:cNvSpPr>
            <a:spLocks xmlns:a="http://schemas.openxmlformats.org/drawingml/2006/main" noGrp="1"/>
          </p:cNvSpPr>
          <p:nvPr/>
        </p:nvSpPr>
        <p:spPr>
          <a:xfrm xmlns:a="http://schemas.openxmlformats.org/drawingml/2006/main">
            <a:off x="95250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B and C connect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through A</a:t>
            </a:r>
          </a:p>
        </p:txBody>
      </p:sp>
      <p:sp>
        <p:nvSpPr>
          <p:cNvPr id="25" name="legend-surviving-sample">
            <a:extLst xmlns:a="http://schemas.openxmlformats.org/drawingml/2006/main">
              <a:ext uri="{FF2B5EF4-FFF2-40B4-BE49-F238E27FC236}">
                <a16:creationId xmlns:a16="http://schemas.microsoft.com/office/drawing/2014/main" id="{197BED59-4A75-497A-BBDF-05914891E8BA}"/>
              </a:ext>
            </a:extLst>
          </p:cNvPr>
          <p:cNvSpPr>
            <a:spLocks xmlns:a="http://schemas.openxmlformats.org/drawingml/2006/main" noGrp="1"/>
          </p:cNvSpPr>
          <p:nvPr/>
        </p:nvSpPr>
        <p:spPr>
          <a:xfrm xmlns:a="http://schemas.openxmlformats.org/drawingml/2006/main">
            <a:off x="685800" y="6162675"/>
            <a:ext cx="514350" cy="0"/>
          </a:xfrm>
          <a:prstGeom xmlns:a="http://schemas.openxmlformats.org/drawingml/2006/main" prst="line">
            <a:avLst/>
          </a:prstGeom>
          <a:noFill xmlns:a="http://schemas.openxmlformats.org/drawingml/2006/main"/>
          <a:ln xmlns:a="http://schemas.openxmlformats.org/drawingml/2006/main" w="23813">
            <a:solidFill>
              <a:srgbClr val="374151"/>
            </a:solidFill>
            <a:prstDash val="solid"/>
          </a:ln>
        </p:spPr>
      </p:sp>
      <p:sp>
        <p:nvSpPr>
          <p:cNvPr id="26" name="legend-Surviving link">
            <a:extLst xmlns:a="http://schemas.openxmlformats.org/drawingml/2006/main">
              <a:ext uri="{FF2B5EF4-FFF2-40B4-BE49-F238E27FC236}">
                <a16:creationId xmlns:a16="http://schemas.microsoft.com/office/drawing/2014/main" id="{DA1A4905-D856-4AC4-A971-2EED433BAC92}"/>
              </a:ext>
            </a:extLst>
          </p:cNvPr>
          <p:cNvSpPr>
            <a:spLocks xmlns:a="http://schemas.openxmlformats.org/drawingml/2006/main" noGrp="1"/>
          </p:cNvSpPr>
          <p:nvPr/>
        </p:nvSpPr>
        <p:spPr>
          <a:xfrm xmlns:a="http://schemas.openxmlformats.org/drawingml/2006/main">
            <a:off x="1333500" y="601980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Surviving link</a:t>
            </a:r>
          </a:p>
        </p:txBody>
      </p:sp>
      <p:sp>
        <p:nvSpPr>
          <p:cNvPr id="27" name="legend-failed-sample">
            <a:extLst xmlns:a="http://schemas.openxmlformats.org/drawingml/2006/main">
              <a:ext uri="{FF2B5EF4-FFF2-40B4-BE49-F238E27FC236}">
                <a16:creationId xmlns:a16="http://schemas.microsoft.com/office/drawing/2014/main" id="{97EE908B-A65E-4983-B88C-E1E4E12095AF}"/>
              </a:ext>
            </a:extLst>
          </p:cNvPr>
          <p:cNvSpPr>
            <a:spLocks xmlns:a="http://schemas.openxmlformats.org/drawingml/2006/main" noGrp="1"/>
          </p:cNvSpPr>
          <p:nvPr/>
        </p:nvSpPr>
        <p:spPr>
          <a:xfrm xmlns:a="http://schemas.openxmlformats.org/drawingml/2006/main">
            <a:off x="3429000" y="6162675"/>
            <a:ext cx="514350" cy="0"/>
          </a:xfrm>
          <a:prstGeom xmlns:a="http://schemas.openxmlformats.org/drawingml/2006/main" prst="line">
            <a:avLst/>
          </a:prstGeom>
          <a:noFill xmlns:a="http://schemas.openxmlformats.org/drawingml/2006/main"/>
          <a:ln xmlns:a="http://schemas.openxmlformats.org/drawingml/2006/main" w="23813">
            <a:solidFill>
              <a:srgbClr val="C0392B"/>
            </a:solidFill>
            <a:prstDash val="dash"/>
          </a:ln>
        </p:spPr>
      </p:sp>
      <p:sp>
        <p:nvSpPr>
          <p:cNvPr id="28" name="legend-Failed link">
            <a:extLst xmlns:a="http://schemas.openxmlformats.org/drawingml/2006/main">
              <a:ext uri="{FF2B5EF4-FFF2-40B4-BE49-F238E27FC236}">
                <a16:creationId xmlns:a16="http://schemas.microsoft.com/office/drawing/2014/main" id="{7BEB246F-1BCE-405D-AD7B-6229E0EFC502}"/>
              </a:ext>
            </a:extLst>
          </p:cNvPr>
          <p:cNvSpPr>
            <a:spLocks xmlns:a="http://schemas.openxmlformats.org/drawingml/2006/main" noGrp="1"/>
          </p:cNvSpPr>
          <p:nvPr/>
        </p:nvSpPr>
        <p:spPr>
          <a:xfrm xmlns:a="http://schemas.openxmlformats.org/drawingml/2006/main">
            <a:off x="4076700" y="6019800"/>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Failed link</a:t>
            </a:r>
          </a:p>
        </p:txBody>
      </p:sp>
      <p:cxnSp>
        <p:nvCxnSpPr>
          <p:cNvPr id="29" name="legend-forwarding-sample">
            <a:extLst xmlns:a="http://schemas.openxmlformats.org/drawingml/2006/main">
              <a:ext uri="{FF2B5EF4-FFF2-40B4-BE49-F238E27FC236}">
                <a16:creationId xmlns:a16="http://schemas.microsoft.com/office/drawing/2014/main" id="{B9E15206-52AE-4BD8-854D-45C285FF5C6B}"/>
              </a:ext>
            </a:extLst>
          </p:cNvPr>
          <p:cNvCxnSpPr/>
          <p:nvPr/>
        </p:nvCxnSpPr>
        <p:spPr>
          <a:xfrm xmlns:a="http://schemas.openxmlformats.org/drawingml/2006/main">
            <a:off x="5857875" y="6162675"/>
            <a:ext cx="514350" cy="0"/>
          </a:xfrm>
          <a:prstGeom xmlns:a="http://schemas.openxmlformats.org/drawingml/2006/main" prst="straightConnector1">
            <a:avLst/>
          </a:prstGeom>
          <a:ln xmlns:a="http://schemas.openxmlformats.org/drawingml/2006/main" w="28575">
            <a:solidFill>
              <a:srgbClr val="1677B8"/>
            </a:solidFill>
            <a:prstDash val="solid"/>
            <a:headEnd type="stealth" w="sm" len="sm"/>
            <a:tailEnd type="stealth" w="sm" len="sm"/>
          </a:ln>
        </p:spPr>
      </p:cxnSp>
      <p:sp>
        <p:nvSpPr>
          <p:cNvPr id="30" name="legend-Forwarding path">
            <a:extLst xmlns:a="http://schemas.openxmlformats.org/drawingml/2006/main">
              <a:ext uri="{FF2B5EF4-FFF2-40B4-BE49-F238E27FC236}">
                <a16:creationId xmlns:a16="http://schemas.microsoft.com/office/drawing/2014/main" id="{BF1FF53A-052C-4D3F-8D7C-9125BF6E3A45}"/>
              </a:ext>
            </a:extLst>
          </p:cNvPr>
          <p:cNvSpPr>
            <a:spLocks xmlns:a="http://schemas.openxmlformats.org/drawingml/2006/main" noGrp="1"/>
          </p:cNvSpPr>
          <p:nvPr/>
        </p:nvSpPr>
        <p:spPr>
          <a:xfrm xmlns:a="http://schemas.openxmlformats.org/drawingml/2006/main">
            <a:off x="6534150" y="601980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Forwarding path</a:t>
            </a:r>
          </a:p>
        </p:txBody>
      </p:sp>
      <p:sp>
        <p:nvSpPr>
          <p:cNvPr id="31" name="legend-leader-sample">
            <a:extLst xmlns:a="http://schemas.openxmlformats.org/drawingml/2006/main">
              <a:ext uri="{FF2B5EF4-FFF2-40B4-BE49-F238E27FC236}">
                <a16:creationId xmlns:a16="http://schemas.microsoft.com/office/drawing/2014/main" id="{31FFFCEB-DDEE-4A09-A316-386233D13CAA}"/>
              </a:ext>
            </a:extLst>
          </p:cNvPr>
          <p:cNvSpPr>
            <a:spLocks xmlns:a="http://schemas.openxmlformats.org/drawingml/2006/main" noGrp="1"/>
          </p:cNvSpPr>
          <p:nvPr/>
        </p:nvSpPr>
        <p:spPr>
          <a:xfrm xmlns:a="http://schemas.openxmlformats.org/drawingml/2006/main">
            <a:off x="9096375" y="6010275"/>
            <a:ext cx="266700" cy="266700"/>
          </a:xfrm>
          <a:prstGeom xmlns:a="http://schemas.openxmlformats.org/drawingml/2006/main" prst="ellipse">
            <a:avLst/>
          </a:prstGeom>
          <a:solidFill xmlns:a="http://schemas.openxmlformats.org/drawingml/2006/main">
            <a:srgbClr val="F6C85F"/>
          </a:solidFill>
          <a:ln xmlns:a="http://schemas.openxmlformats.org/drawingml/2006/main" w="28575">
            <a:solidFill>
              <a:srgbClr val="374151"/>
            </a:solidFill>
            <a:prstDash val="solid"/>
          </a:ln>
        </p:spPr>
      </p:sp>
      <p:sp>
        <p:nvSpPr>
          <p:cNvPr id="32" name="legend-Initial leader">
            <a:extLst xmlns:a="http://schemas.openxmlformats.org/drawingml/2006/main">
              <a:ext uri="{FF2B5EF4-FFF2-40B4-BE49-F238E27FC236}">
                <a16:creationId xmlns:a16="http://schemas.microsoft.com/office/drawing/2014/main" id="{A778ED99-5E05-42E8-B87C-485409F50CD2}"/>
              </a:ext>
            </a:extLst>
          </p:cNvPr>
          <p:cNvSpPr>
            <a:spLocks xmlns:a="http://schemas.openxmlformats.org/drawingml/2006/main" noGrp="1"/>
          </p:cNvSpPr>
          <p:nvPr/>
        </p:nvSpPr>
        <p:spPr>
          <a:xfrm xmlns:a="http://schemas.openxmlformats.org/drawingml/2006/main">
            <a:off x="9515475" y="6019800"/>
            <a:ext cx="19907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Initial leader</a:t>
            </a:r>
          </a:p>
        </p:txBody>
      </p:sp>
    </p:spTree>
    <p:extLst>
      <p:ext uri="{BB962C8B-B14F-4D97-AF65-F5344CB8AC3E}">
        <p14:creationId xmlns:p14="http://schemas.microsoft.com/office/powerpoint/2010/main" val="7119477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A64B51B1-45B6-4131-9C1F-D7F7C6752C15}"/>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Forwarding sustains client progress</a:t>
            </a:r>
          </a:p>
        </p:txBody>
      </p:sp>
      <p:sp>
        <p:nvSpPr>
          <p:cNvPr id="2" name="slide-number">
            <a:extLst xmlns:a="http://schemas.openxmlformats.org/drawingml/2006/main">
              <a:ext uri="{FF2B5EF4-FFF2-40B4-BE49-F238E27FC236}">
                <a16:creationId xmlns:a16="http://schemas.microsoft.com/office/drawing/2014/main" id="{DE94A5C5-82B8-4B18-A1E8-1B6AE2ADB93F}"/>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6 / 10</a:t>
            </a:r>
          </a:p>
        </p:txBody>
      </p:sp>
      <p:sp>
        <p:nvSpPr>
          <p:cNvPr id="12" name="Stable-progress heuristic: forwarding 450/450">
            <a:extLst xmlns:a="http://schemas.openxmlformats.org/drawingml/2006/main">
              <a:ext uri="{FF2B5EF4-FFF2-40B4-BE49-F238E27FC236}">
                <a16:creationId xmlns:a16="http://schemas.microsoft.com/office/drawing/2014/main" id="{BD7E6977-AF0C-48D5-B3DA-89D487797894}"/>
              </a:ext>
            </a:extLst>
          </p:cNvPr>
          <p:cNvSpPr>
            <a:spLocks xmlns:a="http://schemas.openxmlformats.org/drawingml/2006/main" noGrp="1"/>
          </p:cNvSpPr>
          <p:nvPr/>
        </p:nvSpPr>
        <p:spPr>
          <a:xfrm xmlns:a="http://schemas.openxmlformats.org/drawingml/2006/main">
            <a:off x="685800" y="1524000"/>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7E87"/>
                </a:solidFill>
                <a:latin typeface="Arial"/>
                <a:ea typeface="Arial"/>
                <a:cs typeface="Arial"/>
              </a:defRPr>
            </a:defPPr>
            <a:lvl1pPr algn="l">
              <a:defRPr sz="2175" b="1">
                <a:solidFill>
                  <a:srgbClr val="007E87"/>
                </a:solidFill>
                <a:latin typeface="Arial"/>
                <a:ea typeface="Arial"/>
                <a:cs typeface="Arial"/>
              </a:defRPr>
            </a:lvl1pPr>
            <a:lvl2pPr algn="l">
              <a:defRPr sz="2175" b="1">
                <a:solidFill>
                  <a:srgbClr val="007E87"/>
                </a:solidFill>
                <a:latin typeface="Arial"/>
                <a:ea typeface="Arial"/>
                <a:cs typeface="Arial"/>
              </a:defRPr>
            </a:lvl2pPr>
            <a:lvl3pPr algn="l">
              <a:defRPr sz="2175" b="1">
                <a:solidFill>
                  <a:srgbClr val="007E87"/>
                </a:solidFill>
                <a:latin typeface="Arial"/>
                <a:ea typeface="Arial"/>
                <a:cs typeface="Arial"/>
              </a:defRPr>
            </a:lvl3pPr>
            <a:lvl4pPr algn="l">
              <a:defRPr sz="2175" b="1">
                <a:solidFill>
                  <a:srgbClr val="007E87"/>
                </a:solidFill>
                <a:latin typeface="Arial"/>
                <a:ea typeface="Arial"/>
                <a:cs typeface="Arial"/>
              </a:defRPr>
            </a:lvl4pPr>
            <a:lvl5pPr algn="l">
              <a:defRPr sz="2175" b="1">
                <a:solidFill>
                  <a:srgbClr val="007E87"/>
                </a:solidFill>
                <a:latin typeface="Arial"/>
                <a:ea typeface="Arial"/>
                <a:cs typeface="Arial"/>
              </a:defRPr>
            </a:lvl5pPr>
            <a:lvl6pPr algn="l">
              <a:defRPr sz="2175" b="1">
                <a:solidFill>
                  <a:srgbClr val="007E87"/>
                </a:solidFill>
                <a:latin typeface="Arial"/>
                <a:ea typeface="Arial"/>
                <a:cs typeface="Arial"/>
              </a:defRPr>
            </a:lvl6pPr>
            <a:lvl7pPr algn="l">
              <a:defRPr sz="2175" b="1">
                <a:solidFill>
                  <a:srgbClr val="007E87"/>
                </a:solidFill>
                <a:latin typeface="Arial"/>
                <a:ea typeface="Arial"/>
                <a:cs typeface="Arial"/>
              </a:defRPr>
            </a:lvl7pPr>
            <a:lvl8pPr algn="l">
              <a:defRPr sz="2175" b="1">
                <a:solidFill>
                  <a:srgbClr val="007E87"/>
                </a:solidFill>
                <a:latin typeface="Arial"/>
                <a:ea typeface="Arial"/>
                <a:cs typeface="Arial"/>
              </a:defRPr>
            </a:lvl8pPr>
            <a:lvl9pPr algn="l">
              <a:defRPr sz="2175" b="1">
                <a:solidFill>
                  <a:srgbClr val="007E87"/>
                </a:solidFill>
                <a:latin typeface="Arial"/>
                <a:ea typeface="Arial"/>
                <a:cs typeface="Arial"/>
              </a:defRPr>
            </a:lvl9pPr>
          </a:lstStyle>
          <a:p xmlns:a="http://schemas.openxmlformats.org/drawingml/2006/main">
            <a:pPr algn="l">
              <a:defRPr sz="2175" b="1">
                <a:solidFill>
                  <a:srgbClr val="007E87"/>
                </a:solidFill>
                <a:latin typeface="Arial"/>
                <a:ea typeface="Arial"/>
                <a:cs typeface="Arial"/>
              </a:defRPr>
            </a:pPr>
            <a:r>
              <a:rPr sz="2175" b="1">
                <a:solidFill>
                  <a:srgbClr val="007E87"/>
                </a:solidFill>
                <a:latin typeface="Arial"/>
                <a:ea typeface="Arial"/>
                <a:cs typeface="Arial"/>
              </a:rPr>
              <a:t>Stable-progress heuristic: forwarding 450/450, direct 309/450</a:t>
            </a:r>
          </a:p>
        </p:txBody>
      </p:sp>
      <p:sp>
        <p:nvSpPr>
          <p:cNvPr id="13" name="Mean successful client commits/s">
            <a:extLst xmlns:a="http://schemas.openxmlformats.org/drawingml/2006/main">
              <a:ext uri="{FF2B5EF4-FFF2-40B4-BE49-F238E27FC236}">
                <a16:creationId xmlns:a16="http://schemas.microsoft.com/office/drawing/2014/main" id="{560179F4-4FE2-4DDA-A0E1-669B09B99280}"/>
              </a:ext>
            </a:extLst>
          </p:cNvPr>
          <p:cNvSpPr>
            <a:spLocks xmlns:a="http://schemas.openxmlformats.org/drawingml/2006/main" noGrp="1"/>
          </p:cNvSpPr>
          <p:nvPr/>
        </p:nvSpPr>
        <p:spPr>
          <a:xfrm xmlns:a="http://schemas.openxmlformats.org/drawingml/2006/main">
            <a:off x="685800" y="193357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Mean successful client commits/s</a:t>
            </a:r>
          </a:p>
        </p:txBody>
      </p:sp>
      <p:graphicFrame>
        <p:nvGraphicFramePr>
          <p:cNvPr id="14" name="Chart">
            <a:extLst xmlns:a="http://schemas.openxmlformats.org/drawingml/2006/main">
              <a:ext uri="{FF2B5EF4-FFF2-40B4-BE49-F238E27FC236}">
                <a16:creationId xmlns:a16="http://schemas.microsoft.com/office/drawing/2014/main" id="{131E0C9A-A5A7-46D9-A612-45BE01D9521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1f5d8711bfdb4d12"/>
          </a:graphicData>
        </a:graphic>
      </p:graphicFrame>
      <p:graphicFrame>
        <p:nvGraphicFramePr>
          <p:cNvPr id="15" name="Chart">
            <a:extLst xmlns:a="http://schemas.openxmlformats.org/drawingml/2006/main">
              <a:ext uri="{FF2B5EF4-FFF2-40B4-BE49-F238E27FC236}">
                <a16:creationId xmlns:a16="http://schemas.microsoft.com/office/drawing/2014/main" id="{BBF4A9B4-526D-4379-ACE3-87321136FADE}"/>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6fa479af53f2482c"/>
          </a:graphicData>
        </a:graphic>
      </p:graphicFrame>
      <p:graphicFrame>
        <p:nvGraphicFramePr>
          <p:cNvPr id="16" name="Chart">
            <a:extLst xmlns:a="http://schemas.openxmlformats.org/drawingml/2006/main">
              <a:ext uri="{FF2B5EF4-FFF2-40B4-BE49-F238E27FC236}">
                <a16:creationId xmlns:a16="http://schemas.microsoft.com/office/drawing/2014/main" id="{71FC232D-EA20-47A2-9E16-5E02AB56812A}"/>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245da2d9b89a4c49"/>
          </a:graphicData>
        </a:graphic>
      </p:graphicFrame>
      <p:sp>
        <p:nvSpPr>
          <p:cNvPr id="17" name="T2 throughput improves by 53%, 83% and 69% ac">
            <a:extLst xmlns:a="http://schemas.openxmlformats.org/drawingml/2006/main">
              <a:ext uri="{FF2B5EF4-FFF2-40B4-BE49-F238E27FC236}">
                <a16:creationId xmlns:a16="http://schemas.microsoft.com/office/drawing/2014/main" id="{DA355068-8E1F-4CBF-B5E7-C2671B476B6A}"/>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defRPr sz="2025" b="1">
                <a:solidFill>
                  <a:srgbClr val="173247"/>
                </a:solidFill>
                <a:latin typeface="Arial"/>
                <a:ea typeface="Arial"/>
                <a:cs typeface="Arial"/>
              </a:defRPr>
            </a:lvl1pPr>
            <a:lvl2pPr algn="l">
              <a:defRPr sz="2025" b="1">
                <a:solidFill>
                  <a:srgbClr val="173247"/>
                </a:solidFill>
                <a:latin typeface="Arial"/>
                <a:ea typeface="Arial"/>
                <a:cs typeface="Arial"/>
              </a:defRPr>
            </a:lvl2pPr>
            <a:lvl3pPr algn="l">
              <a:defRPr sz="2025" b="1">
                <a:solidFill>
                  <a:srgbClr val="173247"/>
                </a:solidFill>
                <a:latin typeface="Arial"/>
                <a:ea typeface="Arial"/>
                <a:cs typeface="Arial"/>
              </a:defRPr>
            </a:lvl3pPr>
            <a:lvl4pPr algn="l">
              <a:defRPr sz="2025" b="1">
                <a:solidFill>
                  <a:srgbClr val="173247"/>
                </a:solidFill>
                <a:latin typeface="Arial"/>
                <a:ea typeface="Arial"/>
                <a:cs typeface="Arial"/>
              </a:defRPr>
            </a:lvl4pPr>
            <a:lvl5pPr algn="l">
              <a:defRPr sz="2025" b="1">
                <a:solidFill>
                  <a:srgbClr val="173247"/>
                </a:solidFill>
                <a:latin typeface="Arial"/>
                <a:ea typeface="Arial"/>
                <a:cs typeface="Arial"/>
              </a:defRPr>
            </a:lvl5pPr>
            <a:lvl6pPr algn="l">
              <a:defRPr sz="2025" b="1">
                <a:solidFill>
                  <a:srgbClr val="173247"/>
                </a:solidFill>
                <a:latin typeface="Arial"/>
                <a:ea typeface="Arial"/>
                <a:cs typeface="Arial"/>
              </a:defRPr>
            </a:lvl6pPr>
            <a:lvl7pPr algn="l">
              <a:defRPr sz="2025" b="1">
                <a:solidFill>
                  <a:srgbClr val="173247"/>
                </a:solidFill>
                <a:latin typeface="Arial"/>
                <a:ea typeface="Arial"/>
                <a:cs typeface="Arial"/>
              </a:defRPr>
            </a:lvl7pPr>
            <a:lvl8pPr algn="l">
              <a:defRPr sz="2025" b="1">
                <a:solidFill>
                  <a:srgbClr val="173247"/>
                </a:solidFill>
                <a:latin typeface="Arial"/>
                <a:ea typeface="Arial"/>
                <a:cs typeface="Arial"/>
              </a:defRPr>
            </a:lvl8pPr>
            <a:lvl9pPr algn="l">
              <a:defRPr sz="2025" b="1">
                <a:solidFill>
                  <a:srgbClr val="173247"/>
                </a:solidFill>
                <a:latin typeface="Arial"/>
                <a:ea typeface="Arial"/>
                <a:cs typeface="Arial"/>
              </a:defRPr>
            </a:lvl9pPr>
          </a:lstStyle>
          <a:p xmlns:a="http://schemas.openxmlformats.org/drawingml/2006/main">
            <a:pPr algn="l">
              <a:defRPr sz="2025" b="1">
                <a:solidFill>
                  <a:srgbClr val="173247"/>
                </a:solidFill>
                <a:latin typeface="Arial"/>
                <a:ea typeface="Arial"/>
                <a:cs typeface="Arial"/>
              </a:defRPr>
            </a:pPr>
            <a:r>
              <a:rPr sz="2025" b="1">
                <a:solidFill>
                  <a:srgbClr val="173247"/>
                </a:solidFill>
                <a:latin typeface="Arial"/>
                <a:ea typeface="Arial"/>
                <a:cs typeface="Arial"/>
              </a:rPr>
              <a:t>T2 throughput improves by 53%, 83% and 69% across the delays.</a:t>
            </a:r>
          </a:p>
        </p:txBody>
      </p:sp>
      <p:sp>
        <p:nvSpPr>
          <p:cNvPr id="18" name="T3: all 90 forwarding trials commit. Direct m">
            <a:extLst xmlns:a="http://schemas.openxmlformats.org/drawingml/2006/main">
              <a:ext uri="{FF2B5EF4-FFF2-40B4-BE49-F238E27FC236}">
                <a16:creationId xmlns:a16="http://schemas.microsoft.com/office/drawing/2014/main" id="{A41B0245-1646-44C3-A6DA-30B448CE3B7F}"/>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all 90 forwarding trials commit. Direct mode commits in none.</a:t>
            </a:r>
          </a:p>
        </p:txBody>
      </p:sp>
      <p:sp>
        <p:nvSpPr>
          <p:cNvPr id="19" name="n = 30 per condition. T3 throughput includes ">
            <a:extLst xmlns:a="http://schemas.openxmlformats.org/drawingml/2006/main">
              <a:ext uri="{FF2B5EF4-FFF2-40B4-BE49-F238E27FC236}">
                <a16:creationId xmlns:a16="http://schemas.microsoft.com/office/drawing/2014/main" id="{8A3CA36C-BDA8-4AB7-BD6A-CFF71CEC7295}"/>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n = 30 per condition. T3 throughput includes restart and setup time.</a:t>
            </a:r>
          </a:p>
        </p:txBody>
      </p:sp>
    </p:spTree>
    <p:extLst>
      <p:ext uri="{BB962C8B-B14F-4D97-AF65-F5344CB8AC3E}">
        <p14:creationId xmlns:p14="http://schemas.microsoft.com/office/powerpoint/2010/main" val="11661754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428F86E1-4947-44E4-A2F8-A8D9317910C1}"/>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A forwarded quorum adds commit latency</a:t>
            </a:r>
          </a:p>
        </p:txBody>
      </p:sp>
      <p:sp>
        <p:nvSpPr>
          <p:cNvPr id="2" name="slide-number">
            <a:extLst xmlns:a="http://schemas.openxmlformats.org/drawingml/2006/main">
              <a:ext uri="{FF2B5EF4-FFF2-40B4-BE49-F238E27FC236}">
                <a16:creationId xmlns:a16="http://schemas.microsoft.com/office/drawing/2014/main" id="{24CA4258-AB15-488D-A8B3-1D78A5636BF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7 / 10</a:t>
            </a:r>
          </a:p>
        </p:txBody>
      </p:sp>
      <p:sp>
        <p:nvSpPr>
          <p:cNvPr id="11" name="Mean of per-run median successful-request lat">
            <a:extLst xmlns:a="http://schemas.openxmlformats.org/drawingml/2006/main">
              <a:ext uri="{FF2B5EF4-FFF2-40B4-BE49-F238E27FC236}">
                <a16:creationId xmlns:a16="http://schemas.microsoft.com/office/drawing/2014/main" id="{77ADF7B1-D6BE-4D29-8C82-B6BB523DE3CA}"/>
              </a:ext>
            </a:extLst>
          </p:cNvPr>
          <p:cNvSpPr>
            <a:spLocks xmlns:a="http://schemas.openxmlformats.org/drawingml/2006/main" noGrp="1"/>
          </p:cNvSpPr>
          <p:nvPr/>
        </p:nvSpPr>
        <p:spPr>
          <a:xfrm xmlns:a="http://schemas.openxmlformats.org/drawingml/2006/main">
            <a:off x="685800" y="15621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defRPr sz="2100" b="0">
                <a:solidFill>
                  <a:srgbClr val="556570"/>
                </a:solidFill>
                <a:latin typeface="Arial"/>
                <a:ea typeface="Arial"/>
                <a:cs typeface="Arial"/>
              </a:defRPr>
            </a:pPr>
            <a:r>
              <a:rPr sz="2100" b="0">
                <a:solidFill>
                  <a:srgbClr val="556570"/>
                </a:solidFill>
                <a:latin typeface="Arial"/>
                <a:ea typeface="Arial"/>
                <a:cs typeface="Arial"/>
              </a:rPr>
              <a:t>Mean of per-run median successful-request latency (ms)</a:t>
            </a:r>
          </a:p>
        </p:txBody>
      </p:sp>
      <p:graphicFrame>
        <p:nvGraphicFramePr>
          <p:cNvPr id="12" name="Chart">
            <a:extLst xmlns:a="http://schemas.openxmlformats.org/drawingml/2006/main">
              <a:ext uri="{FF2B5EF4-FFF2-40B4-BE49-F238E27FC236}">
                <a16:creationId xmlns:a16="http://schemas.microsoft.com/office/drawing/2014/main" id="{C639683A-AD89-4209-8823-5F886724499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ece529a20fe14363"/>
          </a:graphicData>
        </a:graphic>
      </p:graphicFrame>
      <p:graphicFrame>
        <p:nvGraphicFramePr>
          <p:cNvPr id="13" name="Chart">
            <a:extLst xmlns:a="http://schemas.openxmlformats.org/drawingml/2006/main">
              <a:ext uri="{FF2B5EF4-FFF2-40B4-BE49-F238E27FC236}">
                <a16:creationId xmlns:a16="http://schemas.microsoft.com/office/drawing/2014/main" id="{AA693F3D-6985-4701-9344-16A23A44EF00}"/>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5fa14c4ab99642fe"/>
          </a:graphicData>
        </a:graphic>
      </p:graphicFrame>
      <p:graphicFrame>
        <p:nvGraphicFramePr>
          <p:cNvPr id="14" name="Chart">
            <a:extLst xmlns:a="http://schemas.openxmlformats.org/drawingml/2006/main">
              <a:ext uri="{FF2B5EF4-FFF2-40B4-BE49-F238E27FC236}">
                <a16:creationId xmlns:a16="http://schemas.microsoft.com/office/drawing/2014/main" id="{0E5FB808-3550-4486-9190-84FA2C7E31E5}"/>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b8c19b98ac4e4750"/>
          </a:graphicData>
        </a:graphic>
      </p:graphicFrame>
      <p:sp>
        <p:nvSpPr>
          <p:cNvPr id="15" name="T2 direct / forwarding: 2.41 / 4.08, 28.23 / ">
            <a:extLst xmlns:a="http://schemas.openxmlformats.org/drawingml/2006/main">
              <a:ext uri="{FF2B5EF4-FFF2-40B4-BE49-F238E27FC236}">
                <a16:creationId xmlns:a16="http://schemas.microsoft.com/office/drawing/2014/main" id="{0DEF2CEE-E0D9-4711-AA1E-976905835012}"/>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247"/>
                </a:solidFill>
                <a:latin typeface="Arial"/>
                <a:ea typeface="Arial"/>
                <a:cs typeface="Arial"/>
              </a:defRPr>
            </a:defPPr>
            <a:lvl1pPr algn="l">
              <a:defRPr sz="1950" b="1">
                <a:solidFill>
                  <a:srgbClr val="173247"/>
                </a:solidFill>
                <a:latin typeface="Arial"/>
                <a:ea typeface="Arial"/>
                <a:cs typeface="Arial"/>
              </a:defRPr>
            </a:lvl1pPr>
            <a:lvl2pPr algn="l">
              <a:defRPr sz="1950" b="1">
                <a:solidFill>
                  <a:srgbClr val="173247"/>
                </a:solidFill>
                <a:latin typeface="Arial"/>
                <a:ea typeface="Arial"/>
                <a:cs typeface="Arial"/>
              </a:defRPr>
            </a:lvl2pPr>
            <a:lvl3pPr algn="l">
              <a:defRPr sz="1950" b="1">
                <a:solidFill>
                  <a:srgbClr val="173247"/>
                </a:solidFill>
                <a:latin typeface="Arial"/>
                <a:ea typeface="Arial"/>
                <a:cs typeface="Arial"/>
              </a:defRPr>
            </a:lvl3pPr>
            <a:lvl4pPr algn="l">
              <a:defRPr sz="1950" b="1">
                <a:solidFill>
                  <a:srgbClr val="173247"/>
                </a:solidFill>
                <a:latin typeface="Arial"/>
                <a:ea typeface="Arial"/>
                <a:cs typeface="Arial"/>
              </a:defRPr>
            </a:lvl4pPr>
            <a:lvl5pPr algn="l">
              <a:defRPr sz="1950" b="1">
                <a:solidFill>
                  <a:srgbClr val="173247"/>
                </a:solidFill>
                <a:latin typeface="Arial"/>
                <a:ea typeface="Arial"/>
                <a:cs typeface="Arial"/>
              </a:defRPr>
            </a:lvl5pPr>
            <a:lvl6pPr algn="l">
              <a:defRPr sz="1950" b="1">
                <a:solidFill>
                  <a:srgbClr val="173247"/>
                </a:solidFill>
                <a:latin typeface="Arial"/>
                <a:ea typeface="Arial"/>
                <a:cs typeface="Arial"/>
              </a:defRPr>
            </a:lvl6pPr>
            <a:lvl7pPr algn="l">
              <a:defRPr sz="1950" b="1">
                <a:solidFill>
                  <a:srgbClr val="173247"/>
                </a:solidFill>
                <a:latin typeface="Arial"/>
                <a:ea typeface="Arial"/>
                <a:cs typeface="Arial"/>
              </a:defRPr>
            </a:lvl7pPr>
            <a:lvl8pPr algn="l">
              <a:defRPr sz="1950" b="1">
                <a:solidFill>
                  <a:srgbClr val="173247"/>
                </a:solidFill>
                <a:latin typeface="Arial"/>
                <a:ea typeface="Arial"/>
                <a:cs typeface="Arial"/>
              </a:defRPr>
            </a:lvl8pPr>
            <a:lvl9pPr algn="l">
              <a:defRPr sz="1950" b="1">
                <a:solidFill>
                  <a:srgbClr val="173247"/>
                </a:solidFill>
                <a:latin typeface="Arial"/>
                <a:ea typeface="Arial"/>
                <a:cs typeface="Arial"/>
              </a:defRPr>
            </a:lvl9pPr>
          </a:lstStyle>
          <a:p xmlns:a="http://schemas.openxmlformats.org/drawingml/2006/main">
            <a:pPr algn="l">
              <a:defRPr sz="1950" b="1">
                <a:solidFill>
                  <a:srgbClr val="173247"/>
                </a:solidFill>
                <a:latin typeface="Arial"/>
                <a:ea typeface="Arial"/>
                <a:cs typeface="Arial"/>
              </a:defRPr>
            </a:pPr>
            <a:r>
              <a:rPr sz="1950" b="1">
                <a:solidFill>
                  <a:srgbClr val="173247"/>
                </a:solidFill>
                <a:latin typeface="Arial"/>
                <a:ea typeface="Arial"/>
                <a:cs typeface="Arial"/>
              </a:rPr>
              <a:t>T2 direct / forwarding: 2.41 / 4.08, 28.23 / 37.49, 99.47 / 166.21 ms</a:t>
            </a:r>
          </a:p>
        </p:txBody>
      </p:sp>
      <p:sp>
        <p:nvSpPr>
          <p:cNvPr id="16" name="T3 forwarding: 3.57, 35.81, 147.77 ms. No dir">
            <a:extLst xmlns:a="http://schemas.openxmlformats.org/drawingml/2006/main">
              <a:ext uri="{FF2B5EF4-FFF2-40B4-BE49-F238E27FC236}">
                <a16:creationId xmlns:a16="http://schemas.microsoft.com/office/drawing/2014/main" id="{B38B1381-575D-4087-9492-6F560DF3CAE6}"/>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forwarding: 3.57, 35.81, 147.77 ms. No direct latency samples.</a:t>
            </a:r>
          </a:p>
        </p:txBody>
      </p:sp>
      <p:sp>
        <p:nvSpPr>
          <p:cNvPr id="17" name="Axes use different scales. T1/T4 direct summa">
            <a:extLst xmlns:a="http://schemas.openxmlformats.org/drawingml/2006/main">
              <a:ext uri="{FF2B5EF4-FFF2-40B4-BE49-F238E27FC236}">
                <a16:creationId xmlns:a16="http://schemas.microsoft.com/office/drawing/2014/main" id="{FC909D21-A2B9-4AE8-AF28-0606C24D2D81}"/>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Axes use different scales. T1/T4 direct summaries exclude trials with no commits.</a:t>
            </a:r>
          </a:p>
        </p:txBody>
      </p:sp>
    </p:spTree>
    <p:extLst>
      <p:ext uri="{BB962C8B-B14F-4D97-AF65-F5344CB8AC3E}">
        <p14:creationId xmlns:p14="http://schemas.microsoft.com/office/powerpoint/2010/main" val="12876995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293DF8D7-D3D1-49C3-B4AB-4A56A66BA199}"/>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Routing can improve resilience at a cost</a:t>
            </a:r>
          </a:p>
        </p:txBody>
      </p:sp>
      <p:sp>
        <p:nvSpPr>
          <p:cNvPr id="2" name="slide-number">
            <a:extLst xmlns:a="http://schemas.openxmlformats.org/drawingml/2006/main">
              <a:ext uri="{FF2B5EF4-FFF2-40B4-BE49-F238E27FC236}">
                <a16:creationId xmlns:a16="http://schemas.microsoft.com/office/drawing/2014/main" id="{B2DE598D-E7DE-4A0C-84D1-330D73BF01B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8 / 10</a:t>
            </a:r>
          </a:p>
        </p:txBody>
      </p:sp>
      <p:sp>
        <p:nvSpPr>
          <p:cNvPr id="3" name="Progress">
            <a:extLst xmlns:a="http://schemas.openxmlformats.org/drawingml/2006/main">
              <a:ext uri="{FF2B5EF4-FFF2-40B4-BE49-F238E27FC236}">
                <a16:creationId xmlns:a16="http://schemas.microsoft.com/office/drawing/2014/main" id="{8F35AD07-6234-49AC-8F86-1F7A2158AADB}"/>
              </a:ext>
            </a:extLst>
          </p:cNvPr>
          <p:cNvSpPr>
            <a:spLocks xmlns:a="http://schemas.openxmlformats.org/drawingml/2006/main" noGrp="1"/>
          </p:cNvSpPr>
          <p:nvPr/>
        </p:nvSpPr>
        <p:spPr>
          <a:xfrm xmlns:a="http://schemas.openxmlformats.org/drawingml/2006/main">
            <a:off x="685800" y="17907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Progress</a:t>
            </a:r>
          </a:p>
        </p:txBody>
      </p:sp>
      <p:sp>
        <p:nvSpPr>
          <p:cNvPr id="4" name="Forwarding rescues T3 and improves T2 through">
            <a:extLst xmlns:a="http://schemas.openxmlformats.org/drawingml/2006/main">
              <a:ext uri="{FF2B5EF4-FFF2-40B4-BE49-F238E27FC236}">
                <a16:creationId xmlns:a16="http://schemas.microsoft.com/office/drawing/2014/main" id="{538DCF39-E3C5-4F4F-BDB7-C53C1639E6B8}"/>
              </a:ext>
            </a:extLst>
          </p:cNvPr>
          <p:cNvSpPr>
            <a:spLocks xmlns:a="http://schemas.openxmlformats.org/drawingml/2006/main" noGrp="1"/>
          </p:cNvSpPr>
          <p:nvPr/>
        </p:nvSpPr>
        <p:spPr>
          <a:xfrm xmlns:a="http://schemas.openxmlformats.org/drawingml/2006/main">
            <a:off x="685800" y="2314575"/>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Forwarding restores T3 commits and improves T2 throughput.</a:t>
            </a:r>
          </a:p>
        </p:txBody>
      </p:sp>
      <p:sp>
        <p:nvSpPr>
          <p:cNvPr id="5" name="Cost">
            <a:extLst xmlns:a="http://schemas.openxmlformats.org/drawingml/2006/main">
              <a:ext uri="{FF2B5EF4-FFF2-40B4-BE49-F238E27FC236}">
                <a16:creationId xmlns:a16="http://schemas.microsoft.com/office/drawing/2014/main" id="{56E927AB-D4F2-45A9-A49C-2BFB4A2D275B}"/>
              </a:ext>
            </a:extLst>
          </p:cNvPr>
          <p:cNvSpPr>
            <a:spLocks xmlns:a="http://schemas.openxmlformats.org/drawingml/2006/main" noGrp="1"/>
          </p:cNvSpPr>
          <p:nvPr/>
        </p:nvSpPr>
        <p:spPr>
          <a:xfrm xmlns:a="http://schemas.openxmlformats.org/drawingml/2006/main">
            <a:off x="685800" y="3524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Cost</a:t>
            </a:r>
          </a:p>
        </p:txBody>
      </p:sp>
      <p:sp>
        <p:nvSpPr>
          <p:cNvPr id="6" name="Commits take longer when the majority needs e">
            <a:extLst xmlns:a="http://schemas.openxmlformats.org/drawingml/2006/main">
              <a:ext uri="{FF2B5EF4-FFF2-40B4-BE49-F238E27FC236}">
                <a16:creationId xmlns:a16="http://schemas.microsoft.com/office/drawing/2014/main" id="{3AC943BC-0498-4800-9AEE-85C3936A6002}"/>
              </a:ext>
            </a:extLst>
          </p:cNvPr>
          <p:cNvSpPr>
            <a:spLocks xmlns:a="http://schemas.openxmlformats.org/drawingml/2006/main" noGrp="1"/>
          </p:cNvSpPr>
          <p:nvPr/>
        </p:nvSpPr>
        <p:spPr>
          <a:xfrm xmlns:a="http://schemas.openxmlformats.org/drawingml/2006/main">
            <a:off x="685800" y="4048125"/>
            <a:ext cx="1082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Commits take longer when the majority needs extra hops.</a:t>
            </a:r>
          </a:p>
        </p:txBody>
      </p:sp>
      <p:sp>
        <p:nvSpPr>
          <p:cNvPr id="7" name="Evidence focuses on 0.5 ms links.&#10;At 5 and 20">
            <a:extLst xmlns:a="http://schemas.openxmlformats.org/drawingml/2006/main">
              <a:ext uri="{FF2B5EF4-FFF2-40B4-BE49-F238E27FC236}">
                <a16:creationId xmlns:a16="http://schemas.microsoft.com/office/drawing/2014/main" id="{667E40A0-9274-4A9B-B42F-7FAC496B1392}"/>
              </a:ext>
            </a:extLst>
          </p:cNvPr>
          <p:cNvSpPr>
            <a:spLocks xmlns:a="http://schemas.openxmlformats.org/drawingml/2006/main" noGrp="1"/>
          </p:cNvSpPr>
          <p:nvPr/>
        </p:nvSpPr>
        <p:spPr>
          <a:xfrm xmlns:a="http://schemas.openxmlformats.org/drawingml/2006/main">
            <a:off x="685800" y="54102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T1/T4 gains also reflect client access to leaders that retain quorums.</a:t>
            </a:r>
          </a:p>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T3 recovery includes setup. Results cover one workload and timeout.</a:t>
            </a:r>
          </a:p>
        </p:txBody>
      </p:sp>
    </p:spTree>
    <p:extLst>
      <p:ext uri="{BB962C8B-B14F-4D97-AF65-F5344CB8AC3E}">
        <p14:creationId xmlns:p14="http://schemas.microsoft.com/office/powerpoint/2010/main" val="1912386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3849918A-0B14-4619-96A5-DBD581E094D8}"/>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Future work</a:t>
            </a:r>
          </a:p>
        </p:txBody>
      </p:sp>
      <p:sp>
        <p:nvSpPr>
          <p:cNvPr id="2" name="slide-number">
            <a:extLst xmlns:a="http://schemas.openxmlformats.org/drawingml/2006/main">
              <a:ext uri="{FF2B5EF4-FFF2-40B4-BE49-F238E27FC236}">
                <a16:creationId xmlns:a16="http://schemas.microsoft.com/office/drawing/2014/main" id="{B366DDCC-FBD1-467A-8820-47B9F48F2411}"/>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9 / 10</a:t>
            </a:r>
          </a:p>
        </p:txBody>
      </p:sp>
      <p:sp>
        <p:nvSpPr>
          <p:cNvPr id="3" name="01  Timeouts matched to path delay">
            <a:extLst xmlns:a="http://schemas.openxmlformats.org/drawingml/2006/main">
              <a:ext uri="{FF2B5EF4-FFF2-40B4-BE49-F238E27FC236}">
                <a16:creationId xmlns:a16="http://schemas.microsoft.com/office/drawing/2014/main" id="{F9EEDED2-954F-4DA9-96A7-0CCA85CD69F6}"/>
              </a:ext>
            </a:extLst>
          </p:cNvPr>
          <p:cNvSpPr>
            <a:spLocks xmlns:a="http://schemas.openxmlformats.org/drawingml/2006/main" noGrp="1"/>
          </p:cNvSpPr>
          <p:nvPr/>
        </p:nvSpPr>
        <p:spPr>
          <a:xfrm xmlns:a="http://schemas.openxmlformats.org/drawingml/2006/main">
            <a:off x="685800" y="180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01  Client reachability and recovery timing</a:t>
            </a:r>
          </a:p>
        </p:txBody>
      </p:sp>
      <p:sp>
        <p:nvSpPr>
          <p:cNvPr id="4" name="Repeat higher-delay trials with suitable or a">
            <a:extLst xmlns:a="http://schemas.openxmlformats.org/drawingml/2006/main">
              <a:ext uri="{FF2B5EF4-FFF2-40B4-BE49-F238E27FC236}">
                <a16:creationId xmlns:a16="http://schemas.microsoft.com/office/drawing/2014/main" id="{CC0E8D56-F91F-450A-BB0D-CE39A1C7F967}"/>
              </a:ext>
            </a:extLst>
          </p:cNvPr>
          <p:cNvSpPr>
            <a:spLocks xmlns:a="http://schemas.openxmlformats.org/drawingml/2006/main" noGrp="1"/>
          </p:cNvSpPr>
          <p:nvPr/>
        </p:nvSpPr>
        <p:spPr>
          <a:xfrm xmlns:a="http://schemas.openxmlformats.org/drawingml/2006/main">
            <a:off x="685800" y="23241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Control client placement and separate setup from Raft recovery.</a:t>
            </a:r>
          </a:p>
        </p:txBody>
      </p:sp>
      <p:sp>
        <p:nvSpPr>
          <p:cNvPr id="5" name="02  PreVote comparison">
            <a:extLst xmlns:a="http://schemas.openxmlformats.org/drawingml/2006/main">
              <a:ext uri="{FF2B5EF4-FFF2-40B4-BE49-F238E27FC236}">
                <a16:creationId xmlns:a16="http://schemas.microsoft.com/office/drawing/2014/main" id="{61C2DC75-9CC6-40DA-93AB-C78C6228B122}"/>
              </a:ext>
            </a:extLst>
          </p:cNvPr>
          <p:cNvSpPr>
            <a:spLocks xmlns:a="http://schemas.openxmlformats.org/drawingml/2006/main" noGrp="1"/>
          </p:cNvSpPr>
          <p:nvPr/>
        </p:nvSpPr>
        <p:spPr>
          <a:xfrm xmlns:a="http://schemas.openxmlformats.org/drawingml/2006/main">
            <a:off x="685800" y="3295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02  Heartbeat timeout and path delay</a:t>
            </a:r>
          </a:p>
        </p:txBody>
      </p:sp>
      <p:sp>
        <p:nvSpPr>
          <p:cNvPr id="6" name="Compare routing with PreVote enabled and disa">
            <a:extLst xmlns:a="http://schemas.openxmlformats.org/drawingml/2006/main">
              <a:ext uri="{FF2B5EF4-FFF2-40B4-BE49-F238E27FC236}">
                <a16:creationId xmlns:a16="http://schemas.microsoft.com/office/drawing/2014/main" id="{98BBCF5D-02FB-4F85-BEA6-F0313D7AECB7}"/>
              </a:ext>
            </a:extLst>
          </p:cNvPr>
          <p:cNvSpPr>
            <a:spLocks xmlns:a="http://schemas.openxmlformats.org/drawingml/2006/main" noGrp="1"/>
          </p:cNvSpPr>
          <p:nvPr/>
        </p:nvSpPr>
        <p:spPr>
          <a:xfrm xmlns:a="http://schemas.openxmlformats.org/drawingml/2006/main">
            <a:off x="685800" y="38100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Vary the timeout to measure its interaction with network delay.</a:t>
            </a:r>
          </a:p>
        </p:txBody>
      </p:sp>
      <p:sp>
        <p:nvSpPr>
          <p:cNvPr id="7" name="03  Deployment across machines and regions">
            <a:extLst xmlns:a="http://schemas.openxmlformats.org/drawingml/2006/main">
              <a:ext uri="{FF2B5EF4-FFF2-40B4-BE49-F238E27FC236}">
                <a16:creationId xmlns:a16="http://schemas.microsoft.com/office/drawing/2014/main" id="{FC5639B4-33F8-40BE-B901-E1144FF3BFB2}"/>
              </a:ext>
            </a:extLst>
          </p:cNvPr>
          <p:cNvSpPr>
            <a:spLocks xmlns:a="http://schemas.openxmlformats.org/drawingml/2006/main" noGrp="1"/>
          </p:cNvSpPr>
          <p:nvPr/>
        </p:nvSpPr>
        <p:spPr>
          <a:xfrm xmlns:a="http://schemas.openxmlformats.org/drawingml/2006/main">
            <a:off x="685800" y="47815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03  Deployment across machines and regions</a:t>
            </a:r>
          </a:p>
        </p:txBody>
      </p:sp>
      <p:sp>
        <p:nvSpPr>
          <p:cNvPr id="8" name="Test variable delays in a more realistic netw">
            <a:extLst xmlns:a="http://schemas.openxmlformats.org/drawingml/2006/main">
              <a:ext uri="{FF2B5EF4-FFF2-40B4-BE49-F238E27FC236}">
                <a16:creationId xmlns:a16="http://schemas.microsoft.com/office/drawing/2014/main" id="{6ED4BFF8-6318-4AD4-A898-5BE08AA82524}"/>
              </a:ext>
            </a:extLst>
          </p:cNvPr>
          <p:cNvSpPr>
            <a:spLocks xmlns:a="http://schemas.openxmlformats.org/drawingml/2006/main" noGrp="1"/>
          </p:cNvSpPr>
          <p:nvPr/>
        </p:nvSpPr>
        <p:spPr>
          <a:xfrm xmlns:a="http://schemas.openxmlformats.org/drawingml/2006/main">
            <a:off x="685800" y="52959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Test variable delays in a more realistic network.</a:t>
            </a:r>
          </a:p>
        </p:txBody>
      </p:sp>
    </p:spTree>
    <p:extLst>
      <p:ext uri="{BB962C8B-B14F-4D97-AF65-F5344CB8AC3E}">
        <p14:creationId xmlns:p14="http://schemas.microsoft.com/office/powerpoint/2010/main" val="536076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number">
            <a:extLst xmlns:a="http://schemas.openxmlformats.org/drawingml/2006/main">
              <a:ext uri="{FF2B5EF4-FFF2-40B4-BE49-F238E27FC236}">
                <a16:creationId xmlns:a16="http://schemas.microsoft.com/office/drawing/2014/main" id="{D0145743-FB2F-4D9D-AD31-E271DCE8ABD8}"/>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10 / 10</a:t>
            </a:r>
          </a:p>
        </p:txBody>
      </p:sp>
      <p:sp>
        <p:nvSpPr>
          <p:cNvPr id="2" name="Questions">
            <a:extLst xmlns:a="http://schemas.openxmlformats.org/drawingml/2006/main">
              <a:ext uri="{FF2B5EF4-FFF2-40B4-BE49-F238E27FC236}">
                <a16:creationId xmlns:a16="http://schemas.microsoft.com/office/drawing/2014/main" id="{665FFDCB-B30A-4083-B35E-A25B4AA0190A}"/>
              </a:ext>
            </a:extLst>
          </p:cNvPr>
          <p:cNvSpPr>
            <a:spLocks xmlns:a="http://schemas.openxmlformats.org/drawingml/2006/main" noGrp="1"/>
          </p:cNvSpPr>
          <p:nvPr/>
        </p:nvSpPr>
        <p:spPr>
          <a:xfrm xmlns:a="http://schemas.openxmlformats.org/drawingml/2006/main">
            <a:off x="685800" y="21907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173247"/>
                </a:solidFill>
                <a:latin typeface="Arial"/>
                <a:ea typeface="Arial"/>
                <a:cs typeface="Arial"/>
              </a:defRPr>
            </a:defPPr>
            <a:lvl1pPr algn="l">
              <a:defRPr sz="5400" b="1">
                <a:solidFill>
                  <a:srgbClr val="173247"/>
                </a:solidFill>
                <a:latin typeface="Arial"/>
                <a:ea typeface="Arial"/>
                <a:cs typeface="Arial"/>
              </a:defRPr>
            </a:lvl1pPr>
            <a:lvl2pPr algn="l">
              <a:defRPr sz="5400" b="1">
                <a:solidFill>
                  <a:srgbClr val="173247"/>
                </a:solidFill>
                <a:latin typeface="Arial"/>
                <a:ea typeface="Arial"/>
                <a:cs typeface="Arial"/>
              </a:defRPr>
            </a:lvl2pPr>
            <a:lvl3pPr algn="l">
              <a:defRPr sz="5400" b="1">
                <a:solidFill>
                  <a:srgbClr val="173247"/>
                </a:solidFill>
                <a:latin typeface="Arial"/>
                <a:ea typeface="Arial"/>
                <a:cs typeface="Arial"/>
              </a:defRPr>
            </a:lvl3pPr>
            <a:lvl4pPr algn="l">
              <a:defRPr sz="5400" b="1">
                <a:solidFill>
                  <a:srgbClr val="173247"/>
                </a:solidFill>
                <a:latin typeface="Arial"/>
                <a:ea typeface="Arial"/>
                <a:cs typeface="Arial"/>
              </a:defRPr>
            </a:lvl4pPr>
            <a:lvl5pPr algn="l">
              <a:defRPr sz="5400" b="1">
                <a:solidFill>
                  <a:srgbClr val="173247"/>
                </a:solidFill>
                <a:latin typeface="Arial"/>
                <a:ea typeface="Arial"/>
                <a:cs typeface="Arial"/>
              </a:defRPr>
            </a:lvl5pPr>
            <a:lvl6pPr algn="l">
              <a:defRPr sz="5400" b="1">
                <a:solidFill>
                  <a:srgbClr val="173247"/>
                </a:solidFill>
                <a:latin typeface="Arial"/>
                <a:ea typeface="Arial"/>
                <a:cs typeface="Arial"/>
              </a:defRPr>
            </a:lvl6pPr>
            <a:lvl7pPr algn="l">
              <a:defRPr sz="5400" b="1">
                <a:solidFill>
                  <a:srgbClr val="173247"/>
                </a:solidFill>
                <a:latin typeface="Arial"/>
                <a:ea typeface="Arial"/>
                <a:cs typeface="Arial"/>
              </a:defRPr>
            </a:lvl7pPr>
            <a:lvl8pPr algn="l">
              <a:defRPr sz="5400" b="1">
                <a:solidFill>
                  <a:srgbClr val="173247"/>
                </a:solidFill>
                <a:latin typeface="Arial"/>
                <a:ea typeface="Arial"/>
                <a:cs typeface="Arial"/>
              </a:defRPr>
            </a:lvl8pPr>
            <a:lvl9pPr algn="l">
              <a:defRPr sz="5400" b="1">
                <a:solidFill>
                  <a:srgbClr val="173247"/>
                </a:solidFill>
                <a:latin typeface="Arial"/>
                <a:ea typeface="Arial"/>
                <a:cs typeface="Arial"/>
              </a:defRPr>
            </a:lvl9pPr>
          </a:lstStyle>
          <a:p xmlns:a="http://schemas.openxmlformats.org/drawingml/2006/main">
            <a:pPr algn="l">
              <a:buNone/>
              <a:defRPr sz="5400" b="1">
                <a:solidFill>
                  <a:srgbClr val="173247"/>
                </a:solidFill>
                <a:latin typeface="Arial"/>
                <a:ea typeface="Arial"/>
                <a:cs typeface="Arial"/>
              </a:defRPr>
            </a:pPr>
            <a:r>
              <a:rPr sz="5400" b="1">
                <a:solidFill>
                  <a:srgbClr val="173247"/>
                </a:solidFill>
                <a:latin typeface="Arial"/>
                <a:ea typeface="Arial"/>
                <a:cs typeface="Arial"/>
              </a:rPr>
              <a:t>Questions</a:t>
            </a:r>
          </a:p>
        </p:txBody>
      </p:sp>
      <p:sp>
        <p:nvSpPr>
          <p:cNvPr id="3" name="Transparent routing for Raft under partial pa">
            <a:extLst xmlns:a="http://schemas.openxmlformats.org/drawingml/2006/main">
              <a:ext uri="{FF2B5EF4-FFF2-40B4-BE49-F238E27FC236}">
                <a16:creationId xmlns:a16="http://schemas.microsoft.com/office/drawing/2014/main" id="{D2ADDF4E-343C-4EEE-9117-9A8B14964BD8}"/>
              </a:ext>
            </a:extLst>
          </p:cNvPr>
          <p:cNvSpPr>
            <a:spLocks xmlns:a="http://schemas.openxmlformats.org/drawingml/2006/main" noGrp="1"/>
          </p:cNvSpPr>
          <p:nvPr/>
        </p:nvSpPr>
        <p:spPr>
          <a:xfrm xmlns:a="http://schemas.openxmlformats.org/drawingml/2006/main">
            <a:off x="685800" y="35242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007E87"/>
                </a:solidFill>
                <a:latin typeface="Arial"/>
                <a:ea typeface="Arial"/>
                <a:cs typeface="Arial"/>
              </a:defRPr>
            </a:defPPr>
            <a:lvl1pPr algn="l">
              <a:defRPr sz="2400" b="0">
                <a:solidFill>
                  <a:srgbClr val="007E87"/>
                </a:solidFill>
                <a:latin typeface="Arial"/>
                <a:ea typeface="Arial"/>
                <a:cs typeface="Arial"/>
              </a:defRPr>
            </a:lvl1pPr>
            <a:lvl2pPr algn="l">
              <a:defRPr sz="2400" b="0">
                <a:solidFill>
                  <a:srgbClr val="007E87"/>
                </a:solidFill>
                <a:latin typeface="Arial"/>
                <a:ea typeface="Arial"/>
                <a:cs typeface="Arial"/>
              </a:defRPr>
            </a:lvl2pPr>
            <a:lvl3pPr algn="l">
              <a:defRPr sz="2400" b="0">
                <a:solidFill>
                  <a:srgbClr val="007E87"/>
                </a:solidFill>
                <a:latin typeface="Arial"/>
                <a:ea typeface="Arial"/>
                <a:cs typeface="Arial"/>
              </a:defRPr>
            </a:lvl3pPr>
            <a:lvl4pPr algn="l">
              <a:defRPr sz="2400" b="0">
                <a:solidFill>
                  <a:srgbClr val="007E87"/>
                </a:solidFill>
                <a:latin typeface="Arial"/>
                <a:ea typeface="Arial"/>
                <a:cs typeface="Arial"/>
              </a:defRPr>
            </a:lvl4pPr>
            <a:lvl5pPr algn="l">
              <a:defRPr sz="2400" b="0">
                <a:solidFill>
                  <a:srgbClr val="007E87"/>
                </a:solidFill>
                <a:latin typeface="Arial"/>
                <a:ea typeface="Arial"/>
                <a:cs typeface="Arial"/>
              </a:defRPr>
            </a:lvl5pPr>
            <a:lvl6pPr algn="l">
              <a:defRPr sz="2400" b="0">
                <a:solidFill>
                  <a:srgbClr val="007E87"/>
                </a:solidFill>
                <a:latin typeface="Arial"/>
                <a:ea typeface="Arial"/>
                <a:cs typeface="Arial"/>
              </a:defRPr>
            </a:lvl6pPr>
            <a:lvl7pPr algn="l">
              <a:defRPr sz="2400" b="0">
                <a:solidFill>
                  <a:srgbClr val="007E87"/>
                </a:solidFill>
                <a:latin typeface="Arial"/>
                <a:ea typeface="Arial"/>
                <a:cs typeface="Arial"/>
              </a:defRPr>
            </a:lvl7pPr>
            <a:lvl8pPr algn="l">
              <a:defRPr sz="2400" b="0">
                <a:solidFill>
                  <a:srgbClr val="007E87"/>
                </a:solidFill>
                <a:latin typeface="Arial"/>
                <a:ea typeface="Arial"/>
                <a:cs typeface="Arial"/>
              </a:defRPr>
            </a:lvl8pPr>
            <a:lvl9pPr algn="l">
              <a:defRPr sz="2400" b="0">
                <a:solidFill>
                  <a:srgbClr val="007E87"/>
                </a:solidFill>
                <a:latin typeface="Arial"/>
                <a:ea typeface="Arial"/>
                <a:cs typeface="Arial"/>
              </a:defRPr>
            </a:lvl9pPr>
          </a:lstStyle>
          <a:p xmlns:a="http://schemas.openxmlformats.org/drawingml/2006/main">
            <a:pPr algn="l">
              <a:buNone/>
              <a:defRPr sz="2400" b="0">
                <a:solidFill>
                  <a:srgbClr val="007E87"/>
                </a:solidFill>
                <a:latin typeface="Arial"/>
                <a:ea typeface="Arial"/>
                <a:cs typeface="Arial"/>
              </a:defRPr>
            </a:pPr>
            <a:r>
              <a:rPr sz="2400" b="0">
                <a:solidFill>
                  <a:srgbClr val="007E87"/>
                </a:solidFill>
                <a:latin typeface="Arial"/>
                <a:ea typeface="Arial"/>
                <a:cs typeface="Arial"/>
              </a:rPr>
              <a:t>Transparent routing for Raft under partial partitions</a:t>
            </a:r>
          </a:p>
        </p:txBody>
      </p:sp>
    </p:spTree>
    <p:extLst>
      <p:ext uri="{BB962C8B-B14F-4D97-AF65-F5344CB8AC3E}">
        <p14:creationId xmlns:p14="http://schemas.microsoft.com/office/powerpoint/2010/main" val="1206368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2026-10-22T11:31:02.3680000Z</dcterms:created>
  <dcterms:modified xsi:type="dcterms:W3CDTF">2026-10-22T11:31:02.3680000Z</dcterms:modified>
</coreProperties>
</file>